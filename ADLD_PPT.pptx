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1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4" r:id="rId17"/>
    <p:sldId id="279" r:id="rId18"/>
    <p:sldId id="280" r:id="rId19"/>
    <p:sldId id="275" r:id="rId20"/>
    <p:sldId id="276" r:id="rId21"/>
    <p:sldId id="277" r:id="rId22"/>
    <p:sldId id="278" r:id="rId2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238"/>
    <p:restoredTop sz="94668"/>
  </p:normalViewPr>
  <p:slideViewPr>
    <p:cSldViewPr snapToGrid="0">
      <p:cViewPr>
        <p:scale>
          <a:sx n="96" d="100"/>
          <a:sy n="96" d="100"/>
        </p:scale>
        <p:origin x="2624" y="1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b8b010eb99_2_112:notes"/>
          <p:cNvSpPr txBox="1">
            <a:spLocks noGrp="1"/>
          </p:cNvSpPr>
          <p:nvPr>
            <p:ph type="body" idx="1"/>
          </p:nvPr>
        </p:nvSpPr>
        <p:spPr>
          <a:xfrm>
            <a:off x="685802" y="4400556"/>
            <a:ext cx="5486410" cy="360045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g3b8b010eb99_2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b8b010eb99_2_138:notes"/>
          <p:cNvSpPr txBox="1">
            <a:spLocks noGrp="1"/>
          </p:cNvSpPr>
          <p:nvPr>
            <p:ph type="body" idx="1"/>
          </p:nvPr>
        </p:nvSpPr>
        <p:spPr>
          <a:xfrm>
            <a:off x="685802" y="4400556"/>
            <a:ext cx="5486410" cy="360045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3b8b010eb99_2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b8b010eb99_2_146:notes"/>
          <p:cNvSpPr txBox="1">
            <a:spLocks noGrp="1"/>
          </p:cNvSpPr>
          <p:nvPr>
            <p:ph type="body" idx="1"/>
          </p:nvPr>
        </p:nvSpPr>
        <p:spPr>
          <a:xfrm>
            <a:off x="685802" y="4400556"/>
            <a:ext cx="5486410" cy="360045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g3b8b010eb99_2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babd81770c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babd81770c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b8b010eb99_2_160:notes"/>
          <p:cNvSpPr txBox="1">
            <a:spLocks noGrp="1"/>
          </p:cNvSpPr>
          <p:nvPr>
            <p:ph type="body" idx="1"/>
          </p:nvPr>
        </p:nvSpPr>
        <p:spPr>
          <a:xfrm>
            <a:off x="685802" y="4400556"/>
            <a:ext cx="5486410" cy="360045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g3b8b010eb99_2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babd81770c_0_3:notes"/>
          <p:cNvSpPr txBox="1">
            <a:spLocks noGrp="1"/>
          </p:cNvSpPr>
          <p:nvPr>
            <p:ph type="body" idx="1"/>
          </p:nvPr>
        </p:nvSpPr>
        <p:spPr>
          <a:xfrm>
            <a:off x="685802" y="4400556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g3babd81770c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b8b010eb99_2_174:notes"/>
          <p:cNvSpPr txBox="1">
            <a:spLocks noGrp="1"/>
          </p:cNvSpPr>
          <p:nvPr>
            <p:ph type="body" idx="1"/>
          </p:nvPr>
        </p:nvSpPr>
        <p:spPr>
          <a:xfrm>
            <a:off x="685802" y="4400556"/>
            <a:ext cx="5486410" cy="360045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g3b8b010eb99_2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babd81770c_0_11:notes"/>
          <p:cNvSpPr txBox="1">
            <a:spLocks noGrp="1"/>
          </p:cNvSpPr>
          <p:nvPr>
            <p:ph type="body" idx="1"/>
          </p:nvPr>
        </p:nvSpPr>
        <p:spPr>
          <a:xfrm>
            <a:off x="685802" y="4400556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g3babd81770c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babd81770c_0_19:notes"/>
          <p:cNvSpPr txBox="1">
            <a:spLocks noGrp="1"/>
          </p:cNvSpPr>
          <p:nvPr>
            <p:ph type="body" idx="1"/>
          </p:nvPr>
        </p:nvSpPr>
        <p:spPr>
          <a:xfrm>
            <a:off x="685802" y="4400556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g3babd81770c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b8b010eb99_2_181:notes"/>
          <p:cNvSpPr txBox="1">
            <a:spLocks noGrp="1"/>
          </p:cNvSpPr>
          <p:nvPr>
            <p:ph type="body" idx="1"/>
          </p:nvPr>
        </p:nvSpPr>
        <p:spPr>
          <a:xfrm>
            <a:off x="685802" y="4400556"/>
            <a:ext cx="5486410" cy="360045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g3b8b010eb99_2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babd81770c_0_38:notes"/>
          <p:cNvSpPr txBox="1">
            <a:spLocks noGrp="1"/>
          </p:cNvSpPr>
          <p:nvPr>
            <p:ph type="body" idx="1"/>
          </p:nvPr>
        </p:nvSpPr>
        <p:spPr>
          <a:xfrm>
            <a:off x="685802" y="4400556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g3babd81770c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babd81770c_0_29:notes"/>
          <p:cNvSpPr txBox="1">
            <a:spLocks noGrp="1"/>
          </p:cNvSpPr>
          <p:nvPr>
            <p:ph type="body" idx="1"/>
          </p:nvPr>
        </p:nvSpPr>
        <p:spPr>
          <a:xfrm>
            <a:off x="685802" y="4400556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3" name="Google Shape;253;g3babd81770c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babd81770c_0_48:notes"/>
          <p:cNvSpPr txBox="1">
            <a:spLocks noGrp="1"/>
          </p:cNvSpPr>
          <p:nvPr>
            <p:ph type="body" idx="1"/>
          </p:nvPr>
        </p:nvSpPr>
        <p:spPr>
          <a:xfrm>
            <a:off x="685802" y="4400556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g3babd81770c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babd81770c_0_57:notes"/>
          <p:cNvSpPr txBox="1">
            <a:spLocks noGrp="1"/>
          </p:cNvSpPr>
          <p:nvPr>
            <p:ph type="body" idx="1"/>
          </p:nvPr>
        </p:nvSpPr>
        <p:spPr>
          <a:xfrm>
            <a:off x="685802" y="4400556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g3babd81770c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b8b010eb99_2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9" name="Google Shape;279;g3b8b010eb99_2_195:notes"/>
          <p:cNvSpPr txBox="1">
            <a:spLocks noGrp="1"/>
          </p:cNvSpPr>
          <p:nvPr>
            <p:ph type="body" idx="1"/>
          </p:nvPr>
        </p:nvSpPr>
        <p:spPr>
          <a:xfrm>
            <a:off x="685802" y="4400556"/>
            <a:ext cx="5486410" cy="3600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g3b8b010eb99_2_195:notes"/>
          <p:cNvSpPr txBox="1">
            <a:spLocks noGrp="1"/>
          </p:cNvSpPr>
          <p:nvPr>
            <p:ph type="sldNum" idx="12"/>
          </p:nvPr>
        </p:nvSpPr>
        <p:spPr>
          <a:xfrm>
            <a:off x="3884620" y="8685225"/>
            <a:ext cx="2971805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babd81770c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babd81770c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>
          <a:extLst>
            <a:ext uri="{FF2B5EF4-FFF2-40B4-BE49-F238E27FC236}">
              <a16:creationId xmlns:a16="http://schemas.microsoft.com/office/drawing/2014/main" id="{BD1EA2EF-EDCC-17F1-8A82-C1E0BF5C8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babd81770c_0_93:notes">
            <a:extLst>
              <a:ext uri="{FF2B5EF4-FFF2-40B4-BE49-F238E27FC236}">
                <a16:creationId xmlns:a16="http://schemas.microsoft.com/office/drawing/2014/main" id="{9466F3E7-AC1B-CD82-31FB-9E61738AEF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babd81770c_0_93:notes">
            <a:extLst>
              <a:ext uri="{FF2B5EF4-FFF2-40B4-BE49-F238E27FC236}">
                <a16:creationId xmlns:a16="http://schemas.microsoft.com/office/drawing/2014/main" id="{F85C4000-E9C4-CEBC-C719-6409488DC7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5073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>
          <a:extLst>
            <a:ext uri="{FF2B5EF4-FFF2-40B4-BE49-F238E27FC236}">
              <a16:creationId xmlns:a16="http://schemas.microsoft.com/office/drawing/2014/main" id="{E7747064-0747-9B4C-0C60-FDBE3EBD0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babd81770c_0_93:notes">
            <a:extLst>
              <a:ext uri="{FF2B5EF4-FFF2-40B4-BE49-F238E27FC236}">
                <a16:creationId xmlns:a16="http://schemas.microsoft.com/office/drawing/2014/main" id="{D1EEDA7C-892F-5008-F944-C42D7E49C0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babd81770c_0_93:notes">
            <a:extLst>
              <a:ext uri="{FF2B5EF4-FFF2-40B4-BE49-F238E27FC236}">
                <a16:creationId xmlns:a16="http://schemas.microsoft.com/office/drawing/2014/main" id="{EA2D8E5C-7489-1C25-4769-14A7BCBBB9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48622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babd81770c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babd81770c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b8b010eb99_2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9" name="Google Shape;329;g3b8b010eb99_2_227:notes"/>
          <p:cNvSpPr txBox="1">
            <a:spLocks noGrp="1"/>
          </p:cNvSpPr>
          <p:nvPr>
            <p:ph type="body" idx="1"/>
          </p:nvPr>
        </p:nvSpPr>
        <p:spPr>
          <a:xfrm>
            <a:off x="685802" y="4400556"/>
            <a:ext cx="5486410" cy="3600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g3b8b010eb99_2_227:notes"/>
          <p:cNvSpPr txBox="1">
            <a:spLocks noGrp="1"/>
          </p:cNvSpPr>
          <p:nvPr>
            <p:ph type="sldNum" idx="12"/>
          </p:nvPr>
        </p:nvSpPr>
        <p:spPr>
          <a:xfrm>
            <a:off x="3884620" y="8685225"/>
            <a:ext cx="2971805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b8b010eb99_2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3b8b010eb99_2_235:notes"/>
          <p:cNvSpPr txBox="1">
            <a:spLocks noGrp="1"/>
          </p:cNvSpPr>
          <p:nvPr>
            <p:ph type="body" idx="1"/>
          </p:nvPr>
        </p:nvSpPr>
        <p:spPr>
          <a:xfrm>
            <a:off x="685802" y="4400556"/>
            <a:ext cx="5486410" cy="3600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3b8b010eb99_2_235:notes"/>
          <p:cNvSpPr txBox="1">
            <a:spLocks noGrp="1"/>
          </p:cNvSpPr>
          <p:nvPr>
            <p:ph type="sldNum" idx="12"/>
          </p:nvPr>
        </p:nvSpPr>
        <p:spPr>
          <a:xfrm>
            <a:off x="3884620" y="8685225"/>
            <a:ext cx="2971805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b8b010eb99_2_259:notes"/>
          <p:cNvSpPr txBox="1">
            <a:spLocks noGrp="1"/>
          </p:cNvSpPr>
          <p:nvPr>
            <p:ph type="body" idx="1"/>
          </p:nvPr>
        </p:nvSpPr>
        <p:spPr>
          <a:xfrm>
            <a:off x="685802" y="4400556"/>
            <a:ext cx="5486410" cy="360045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g3b8b010eb99_2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body" idx="1"/>
          </p:nvPr>
        </p:nvSpPr>
        <p:spPr>
          <a:xfrm>
            <a:off x="131110" y="943712"/>
            <a:ext cx="8881783" cy="3689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2060"/>
              </a:buClr>
              <a:buSzPts val="2100"/>
              <a:buChar char="•"/>
              <a:defRPr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91440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137160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2060"/>
              </a:buClr>
              <a:buSzPts val="1500"/>
              <a:buChar char="•"/>
              <a:defRPr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2060"/>
              </a:buClr>
              <a:buSzPts val="1400"/>
              <a:buChar char="•"/>
              <a:defRPr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2060"/>
              </a:buClr>
              <a:buSzPts val="1400"/>
              <a:buChar char="•"/>
              <a:defRPr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/>
          <p:nvPr/>
        </p:nvSpPr>
        <p:spPr>
          <a:xfrm>
            <a:off x="3791697" y="4803855"/>
            <a:ext cx="1560604" cy="167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775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i="1" u="none" strike="noStrike" cap="none">
                <a:solidFill>
                  <a:srgbClr val="422C7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Go, change the world</a:t>
            </a:r>
            <a:endParaRPr sz="1100" b="1" i="0" u="none" strike="noStrike" cap="none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131109" y="476040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ldNum" idx="12"/>
          </p:nvPr>
        </p:nvSpPr>
        <p:spPr>
          <a:xfrm>
            <a:off x="6955491" y="476040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0" lvl="1" indent="0" algn="r">
              <a:spcBef>
                <a:spcPts val="0"/>
              </a:spcBef>
              <a:buNone/>
              <a:defRPr sz="9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0" lvl="2" indent="0" algn="r">
              <a:spcBef>
                <a:spcPts val="0"/>
              </a:spcBef>
              <a:buNone/>
              <a:defRPr sz="9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0" lvl="3" indent="0" algn="r">
              <a:spcBef>
                <a:spcPts val="0"/>
              </a:spcBef>
              <a:buNone/>
              <a:defRPr sz="9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0" lvl="4" indent="0" algn="r">
              <a:spcBef>
                <a:spcPts val="0"/>
              </a:spcBef>
              <a:buNone/>
              <a:defRPr sz="9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0" lvl="5" indent="0" algn="r">
              <a:spcBef>
                <a:spcPts val="0"/>
              </a:spcBef>
              <a:buNone/>
              <a:defRPr sz="9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0" lvl="6" indent="0" algn="r">
              <a:spcBef>
                <a:spcPts val="0"/>
              </a:spcBef>
              <a:buNone/>
              <a:defRPr sz="9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0" lvl="7" indent="0" algn="r">
              <a:spcBef>
                <a:spcPts val="0"/>
              </a:spcBef>
              <a:buNone/>
              <a:defRPr sz="9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0" lvl="8" indent="0" algn="r">
              <a:spcBef>
                <a:spcPts val="0"/>
              </a:spcBef>
              <a:buNone/>
              <a:defRPr sz="9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 rotWithShape="1">
          <a:blip r:embed="rId2">
            <a:alphaModFix/>
          </a:blip>
          <a:srcRect t="13833"/>
          <a:stretch/>
        </p:blipFill>
        <p:spPr>
          <a:xfrm>
            <a:off x="-1" y="57320"/>
            <a:ext cx="1655629" cy="7482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>
            <a:off x="201706" y="943711"/>
            <a:ext cx="4313144" cy="3689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body" idx="2"/>
          </p:nvPr>
        </p:nvSpPr>
        <p:spPr>
          <a:xfrm>
            <a:off x="4629152" y="943710"/>
            <a:ext cx="4346762" cy="3689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dt" idx="10"/>
          </p:nvPr>
        </p:nvSpPr>
        <p:spPr>
          <a:xfrm>
            <a:off x="20170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6918512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74" name="Google Shape;74;p16"/>
          <p:cNvGrpSpPr/>
          <p:nvPr/>
        </p:nvGrpSpPr>
        <p:grpSpPr>
          <a:xfrm>
            <a:off x="3647128" y="4659386"/>
            <a:ext cx="1735443" cy="450476"/>
            <a:chOff x="9682912" y="8965"/>
            <a:chExt cx="2402541" cy="600635"/>
          </a:xfrm>
        </p:grpSpPr>
        <p:sp>
          <p:nvSpPr>
            <p:cNvPr id="75" name="Google Shape;75;p16"/>
            <p:cNvSpPr/>
            <p:nvPr/>
          </p:nvSpPr>
          <p:spPr>
            <a:xfrm>
              <a:off x="9682912" y="8965"/>
              <a:ext cx="2402541" cy="600635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rgbClr val="00206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16"/>
            <p:cNvSpPr txBox="1"/>
            <p:nvPr/>
          </p:nvSpPr>
          <p:spPr>
            <a:xfrm>
              <a:off x="9803934" y="193190"/>
              <a:ext cx="2160495" cy="2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5775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 i="1">
                  <a:solidFill>
                    <a:srgbClr val="422C75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Go, change the world</a:t>
              </a:r>
              <a:endParaRPr sz="1100" b="1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</p:grpSp>
      <p:pic>
        <p:nvPicPr>
          <p:cNvPr id="77" name="Google Shape;77;p16"/>
          <p:cNvPicPr preferRelativeResize="0"/>
          <p:nvPr/>
        </p:nvPicPr>
        <p:blipFill rotWithShape="1">
          <a:blip r:embed="rId2">
            <a:alphaModFix/>
          </a:blip>
          <a:srcRect t="13833"/>
          <a:stretch/>
        </p:blipFill>
        <p:spPr>
          <a:xfrm>
            <a:off x="168088" y="60949"/>
            <a:ext cx="1655629" cy="7482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>
            <a:off x="623889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100"/>
              <a:buFont typeface="Bookman Old Style"/>
              <a:buNone/>
              <a:defRPr sz="4100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body" idx="1"/>
          </p:nvPr>
        </p:nvSpPr>
        <p:spPr>
          <a:xfrm>
            <a:off x="623889" y="3442098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 sz="1800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dt" idx="10"/>
          </p:nvPr>
        </p:nvSpPr>
        <p:spPr>
          <a:xfrm>
            <a:off x="628651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ftr" idx="11"/>
          </p:nvPr>
        </p:nvSpPr>
        <p:spPr>
          <a:xfrm>
            <a:off x="3028952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sldNum" idx="12"/>
          </p:nvPr>
        </p:nvSpPr>
        <p:spPr>
          <a:xfrm>
            <a:off x="6457951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84" name="Google Shape;84;p17"/>
          <p:cNvGrpSpPr/>
          <p:nvPr/>
        </p:nvGrpSpPr>
        <p:grpSpPr>
          <a:xfrm>
            <a:off x="7381663" y="13379"/>
            <a:ext cx="1735443" cy="450476"/>
            <a:chOff x="9682912" y="8965"/>
            <a:chExt cx="2402541" cy="600635"/>
          </a:xfrm>
        </p:grpSpPr>
        <p:sp>
          <p:nvSpPr>
            <p:cNvPr id="85" name="Google Shape;85;p17"/>
            <p:cNvSpPr/>
            <p:nvPr/>
          </p:nvSpPr>
          <p:spPr>
            <a:xfrm>
              <a:off x="9682912" y="8965"/>
              <a:ext cx="2402541" cy="600635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rgbClr val="00206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7"/>
            <p:cNvSpPr txBox="1"/>
            <p:nvPr/>
          </p:nvSpPr>
          <p:spPr>
            <a:xfrm>
              <a:off x="9803934" y="193190"/>
              <a:ext cx="2160495" cy="2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5775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 i="1">
                  <a:solidFill>
                    <a:srgbClr val="422C75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Go, change the world</a:t>
              </a:r>
              <a:endParaRPr sz="1100" b="1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18"/>
          <p:cNvGrpSpPr/>
          <p:nvPr/>
        </p:nvGrpSpPr>
        <p:grpSpPr>
          <a:xfrm>
            <a:off x="-26252" y="0"/>
            <a:ext cx="9143359" cy="5143500"/>
            <a:chOff x="-35003" y="-1"/>
            <a:chExt cx="12191144" cy="6858000"/>
          </a:xfrm>
        </p:grpSpPr>
        <p:sp>
          <p:nvSpPr>
            <p:cNvPr id="89" name="Google Shape;89;p18"/>
            <p:cNvSpPr/>
            <p:nvPr/>
          </p:nvSpPr>
          <p:spPr>
            <a:xfrm>
              <a:off x="-35003" y="-1"/>
              <a:ext cx="12191144" cy="6858000"/>
            </a:xfrm>
            <a:prstGeom prst="rect">
              <a:avLst/>
            </a:prstGeom>
            <a:solidFill>
              <a:schemeClr val="lt1">
                <a:alpha val="98823"/>
              </a:schemeClr>
            </a:solidFill>
            <a:ln w="76200" cap="flat" cmpd="sng">
              <a:solidFill>
                <a:srgbClr val="00589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0" name="Google Shape;90;p18"/>
            <p:cNvGrpSpPr/>
            <p:nvPr/>
          </p:nvGrpSpPr>
          <p:grpSpPr>
            <a:xfrm>
              <a:off x="0" y="-1"/>
              <a:ext cx="1174375" cy="932329"/>
              <a:chOff x="1" y="0"/>
              <a:chExt cx="995082" cy="663388"/>
            </a:xfrm>
          </p:grpSpPr>
          <p:sp>
            <p:nvSpPr>
              <p:cNvPr id="91" name="Google Shape;91;p18"/>
              <p:cNvSpPr/>
              <p:nvPr/>
            </p:nvSpPr>
            <p:spPr>
              <a:xfrm>
                <a:off x="1" y="0"/>
                <a:ext cx="995082" cy="663388"/>
              </a:xfrm>
              <a:custGeom>
                <a:avLst/>
                <a:gdLst/>
                <a:ahLst/>
                <a:cxnLst/>
                <a:rect l="l" t="t" r="r" b="b"/>
                <a:pathLst>
                  <a:path w="7436484" h="5134610" extrusionOk="0">
                    <a:moveTo>
                      <a:pt x="7435941" y="0"/>
                    </a:moveTo>
                    <a:lnTo>
                      <a:pt x="0" y="0"/>
                    </a:lnTo>
                    <a:lnTo>
                      <a:pt x="0" y="5134513"/>
                    </a:lnTo>
                    <a:lnTo>
                      <a:pt x="7435941" y="0"/>
                    </a:lnTo>
                    <a:close/>
                  </a:path>
                </a:pathLst>
              </a:custGeom>
              <a:solidFill>
                <a:srgbClr val="005893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" name="Google Shape;92;p18"/>
              <p:cNvSpPr/>
              <p:nvPr/>
            </p:nvSpPr>
            <p:spPr>
              <a:xfrm>
                <a:off x="73957" y="36743"/>
                <a:ext cx="383242" cy="310714"/>
              </a:xfrm>
              <a:prstGeom prst="rect">
                <a:avLst/>
              </a:prstGeom>
              <a:blipFill rotWithShape="1">
                <a:blip r:embed="rId2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629842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2"/>
          </p:nvPr>
        </p:nvSpPr>
        <p:spPr>
          <a:xfrm>
            <a:off x="629842" y="1878807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6" name="Google Shape;96;p18"/>
          <p:cNvSpPr txBox="1">
            <a:spLocks noGrp="1"/>
          </p:cNvSpPr>
          <p:nvPr>
            <p:ph type="body" idx="3"/>
          </p:nvPr>
        </p:nvSpPr>
        <p:spPr>
          <a:xfrm>
            <a:off x="4629152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7" name="Google Shape;97;p18"/>
          <p:cNvSpPr txBox="1">
            <a:spLocks noGrp="1"/>
          </p:cNvSpPr>
          <p:nvPr>
            <p:ph type="body" idx="4"/>
          </p:nvPr>
        </p:nvSpPr>
        <p:spPr>
          <a:xfrm>
            <a:off x="4629152" y="1878807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18"/>
          <p:cNvSpPr txBox="1">
            <a:spLocks noGrp="1"/>
          </p:cNvSpPr>
          <p:nvPr>
            <p:ph type="dt" idx="10"/>
          </p:nvPr>
        </p:nvSpPr>
        <p:spPr>
          <a:xfrm>
            <a:off x="628651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8"/>
          <p:cNvSpPr txBox="1">
            <a:spLocks noGrp="1"/>
          </p:cNvSpPr>
          <p:nvPr>
            <p:ph type="ftr" idx="11"/>
          </p:nvPr>
        </p:nvSpPr>
        <p:spPr>
          <a:xfrm>
            <a:off x="3028952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8"/>
          <p:cNvSpPr txBox="1">
            <a:spLocks noGrp="1"/>
          </p:cNvSpPr>
          <p:nvPr>
            <p:ph type="sldNum" idx="12"/>
          </p:nvPr>
        </p:nvSpPr>
        <p:spPr>
          <a:xfrm>
            <a:off x="6457951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01" name="Google Shape;101;p18"/>
          <p:cNvGrpSpPr/>
          <p:nvPr/>
        </p:nvGrpSpPr>
        <p:grpSpPr>
          <a:xfrm>
            <a:off x="7381663" y="13379"/>
            <a:ext cx="1735443" cy="450476"/>
            <a:chOff x="9682912" y="8965"/>
            <a:chExt cx="2402541" cy="600635"/>
          </a:xfrm>
        </p:grpSpPr>
        <p:sp>
          <p:nvSpPr>
            <p:cNvPr id="102" name="Google Shape;102;p18"/>
            <p:cNvSpPr/>
            <p:nvPr/>
          </p:nvSpPr>
          <p:spPr>
            <a:xfrm>
              <a:off x="9682912" y="8965"/>
              <a:ext cx="2402541" cy="600635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rgbClr val="00206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18"/>
            <p:cNvSpPr txBox="1"/>
            <p:nvPr/>
          </p:nvSpPr>
          <p:spPr>
            <a:xfrm>
              <a:off x="9803934" y="193190"/>
              <a:ext cx="2160495" cy="2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5775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 i="1">
                  <a:solidFill>
                    <a:srgbClr val="422C75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Go, change the world</a:t>
              </a:r>
              <a:endParaRPr sz="1100" b="1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/>
          <p:nvPr/>
        </p:nvSpPr>
        <p:spPr>
          <a:xfrm>
            <a:off x="642" y="0"/>
            <a:ext cx="9143359" cy="5143500"/>
          </a:xfrm>
          <a:prstGeom prst="rect">
            <a:avLst/>
          </a:prstGeom>
          <a:solidFill>
            <a:schemeClr val="lt1">
              <a:alpha val="98823"/>
            </a:schemeClr>
          </a:solidFill>
          <a:ln w="76200" cap="flat" cmpd="sng">
            <a:solidFill>
              <a:srgbClr val="00589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9"/>
          <p:cNvSpPr txBox="1">
            <a:spLocks noGrp="1"/>
          </p:cNvSpPr>
          <p:nvPr>
            <p:ph type="title"/>
          </p:nvPr>
        </p:nvSpPr>
        <p:spPr>
          <a:xfrm>
            <a:off x="62865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9"/>
          <p:cNvSpPr txBox="1">
            <a:spLocks noGrp="1"/>
          </p:cNvSpPr>
          <p:nvPr>
            <p:ph type="dt" idx="10"/>
          </p:nvPr>
        </p:nvSpPr>
        <p:spPr>
          <a:xfrm>
            <a:off x="628651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9"/>
          <p:cNvSpPr txBox="1">
            <a:spLocks noGrp="1"/>
          </p:cNvSpPr>
          <p:nvPr>
            <p:ph type="ftr" idx="11"/>
          </p:nvPr>
        </p:nvSpPr>
        <p:spPr>
          <a:xfrm>
            <a:off x="3028952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9"/>
          <p:cNvSpPr txBox="1">
            <a:spLocks noGrp="1"/>
          </p:cNvSpPr>
          <p:nvPr>
            <p:ph type="sldNum" idx="12"/>
          </p:nvPr>
        </p:nvSpPr>
        <p:spPr>
          <a:xfrm>
            <a:off x="6457951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10" name="Google Shape;110;p19"/>
          <p:cNvGrpSpPr/>
          <p:nvPr/>
        </p:nvGrpSpPr>
        <p:grpSpPr>
          <a:xfrm>
            <a:off x="0" y="1"/>
            <a:ext cx="880781" cy="699247"/>
            <a:chOff x="1" y="0"/>
            <a:chExt cx="995082" cy="663388"/>
          </a:xfrm>
        </p:grpSpPr>
        <p:sp>
          <p:nvSpPr>
            <p:cNvPr id="111" name="Google Shape;111;p19"/>
            <p:cNvSpPr/>
            <p:nvPr/>
          </p:nvSpPr>
          <p:spPr>
            <a:xfrm>
              <a:off x="1" y="0"/>
              <a:ext cx="995082" cy="663388"/>
            </a:xfrm>
            <a:custGeom>
              <a:avLst/>
              <a:gdLst/>
              <a:ahLst/>
              <a:cxnLst/>
              <a:rect l="l" t="t" r="r" b="b"/>
              <a:pathLst>
                <a:path w="7436484" h="5134610" extrusionOk="0">
                  <a:moveTo>
                    <a:pt x="7435941" y="0"/>
                  </a:moveTo>
                  <a:lnTo>
                    <a:pt x="0" y="0"/>
                  </a:lnTo>
                  <a:lnTo>
                    <a:pt x="0" y="5134513"/>
                  </a:lnTo>
                  <a:lnTo>
                    <a:pt x="7435941" y="0"/>
                  </a:lnTo>
                  <a:close/>
                </a:path>
              </a:pathLst>
            </a:custGeom>
            <a:solidFill>
              <a:srgbClr val="00589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19"/>
            <p:cNvSpPr/>
            <p:nvPr/>
          </p:nvSpPr>
          <p:spPr>
            <a:xfrm>
              <a:off x="73957" y="36743"/>
              <a:ext cx="383242" cy="310714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3" name="Google Shape;113;p19"/>
          <p:cNvGrpSpPr/>
          <p:nvPr/>
        </p:nvGrpSpPr>
        <p:grpSpPr>
          <a:xfrm>
            <a:off x="7381663" y="13379"/>
            <a:ext cx="1735443" cy="450476"/>
            <a:chOff x="9682912" y="8965"/>
            <a:chExt cx="2402541" cy="600635"/>
          </a:xfrm>
        </p:grpSpPr>
        <p:sp>
          <p:nvSpPr>
            <p:cNvPr id="114" name="Google Shape;114;p19"/>
            <p:cNvSpPr/>
            <p:nvPr/>
          </p:nvSpPr>
          <p:spPr>
            <a:xfrm>
              <a:off x="9682912" y="8965"/>
              <a:ext cx="2402541" cy="600635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rgbClr val="00206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19"/>
            <p:cNvSpPr txBox="1"/>
            <p:nvPr/>
          </p:nvSpPr>
          <p:spPr>
            <a:xfrm>
              <a:off x="9803934" y="193190"/>
              <a:ext cx="2160495" cy="2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5775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 i="1">
                  <a:solidFill>
                    <a:srgbClr val="422C75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Go, change the world</a:t>
              </a:r>
              <a:endParaRPr sz="1100" b="1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/>
          <p:nvPr/>
        </p:nvSpPr>
        <p:spPr>
          <a:xfrm>
            <a:off x="642" y="0"/>
            <a:ext cx="9143359" cy="5143500"/>
          </a:xfrm>
          <a:prstGeom prst="rect">
            <a:avLst/>
          </a:prstGeom>
          <a:solidFill>
            <a:schemeClr val="lt1">
              <a:alpha val="98823"/>
            </a:schemeClr>
          </a:solidFill>
          <a:ln w="76200" cap="flat" cmpd="sng">
            <a:solidFill>
              <a:srgbClr val="00589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0"/>
          <p:cNvSpPr txBox="1">
            <a:spLocks noGrp="1"/>
          </p:cNvSpPr>
          <p:nvPr>
            <p:ph type="dt" idx="10"/>
          </p:nvPr>
        </p:nvSpPr>
        <p:spPr>
          <a:xfrm>
            <a:off x="628651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0"/>
          <p:cNvSpPr txBox="1">
            <a:spLocks noGrp="1"/>
          </p:cNvSpPr>
          <p:nvPr>
            <p:ph type="ftr" idx="11"/>
          </p:nvPr>
        </p:nvSpPr>
        <p:spPr>
          <a:xfrm>
            <a:off x="3028952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0"/>
          <p:cNvSpPr txBox="1">
            <a:spLocks noGrp="1"/>
          </p:cNvSpPr>
          <p:nvPr>
            <p:ph type="sldNum" idx="12"/>
          </p:nvPr>
        </p:nvSpPr>
        <p:spPr>
          <a:xfrm>
            <a:off x="6457951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21" name="Google Shape;121;p20"/>
          <p:cNvGrpSpPr/>
          <p:nvPr/>
        </p:nvGrpSpPr>
        <p:grpSpPr>
          <a:xfrm>
            <a:off x="7381663" y="13379"/>
            <a:ext cx="1735443" cy="450476"/>
            <a:chOff x="9682912" y="8965"/>
            <a:chExt cx="2402541" cy="600635"/>
          </a:xfrm>
        </p:grpSpPr>
        <p:sp>
          <p:nvSpPr>
            <p:cNvPr id="122" name="Google Shape;122;p20"/>
            <p:cNvSpPr/>
            <p:nvPr/>
          </p:nvSpPr>
          <p:spPr>
            <a:xfrm>
              <a:off x="9682912" y="8965"/>
              <a:ext cx="2402541" cy="600635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rgbClr val="00206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20"/>
            <p:cNvSpPr txBox="1"/>
            <p:nvPr/>
          </p:nvSpPr>
          <p:spPr>
            <a:xfrm>
              <a:off x="9803934" y="193190"/>
              <a:ext cx="2160495" cy="2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5775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 i="1">
                  <a:solidFill>
                    <a:srgbClr val="422C75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Go, change the world</a:t>
              </a:r>
              <a:endParaRPr sz="1100" b="1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</p:grpSp>
      <p:grpSp>
        <p:nvGrpSpPr>
          <p:cNvPr id="124" name="Google Shape;124;p20"/>
          <p:cNvGrpSpPr/>
          <p:nvPr/>
        </p:nvGrpSpPr>
        <p:grpSpPr>
          <a:xfrm>
            <a:off x="0" y="1"/>
            <a:ext cx="880781" cy="699247"/>
            <a:chOff x="1" y="0"/>
            <a:chExt cx="995082" cy="663388"/>
          </a:xfrm>
        </p:grpSpPr>
        <p:sp>
          <p:nvSpPr>
            <p:cNvPr id="125" name="Google Shape;125;p20"/>
            <p:cNvSpPr/>
            <p:nvPr/>
          </p:nvSpPr>
          <p:spPr>
            <a:xfrm>
              <a:off x="1" y="0"/>
              <a:ext cx="995082" cy="663388"/>
            </a:xfrm>
            <a:custGeom>
              <a:avLst/>
              <a:gdLst/>
              <a:ahLst/>
              <a:cxnLst/>
              <a:rect l="l" t="t" r="r" b="b"/>
              <a:pathLst>
                <a:path w="7436484" h="5134610" extrusionOk="0">
                  <a:moveTo>
                    <a:pt x="7435941" y="0"/>
                  </a:moveTo>
                  <a:lnTo>
                    <a:pt x="0" y="0"/>
                  </a:lnTo>
                  <a:lnTo>
                    <a:pt x="0" y="5134513"/>
                  </a:lnTo>
                  <a:lnTo>
                    <a:pt x="7435941" y="0"/>
                  </a:lnTo>
                  <a:close/>
                </a:path>
              </a:pathLst>
            </a:custGeom>
            <a:solidFill>
              <a:srgbClr val="00589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20"/>
            <p:cNvSpPr/>
            <p:nvPr/>
          </p:nvSpPr>
          <p:spPr>
            <a:xfrm>
              <a:off x="73957" y="36743"/>
              <a:ext cx="383242" cy="310714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27" name="Google Shape;127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63322" y="1204473"/>
            <a:ext cx="4417359" cy="273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oogle Shape;129;p21"/>
          <p:cNvGrpSpPr/>
          <p:nvPr/>
        </p:nvGrpSpPr>
        <p:grpSpPr>
          <a:xfrm>
            <a:off x="-26252" y="0"/>
            <a:ext cx="9143359" cy="5143500"/>
            <a:chOff x="-35003" y="-1"/>
            <a:chExt cx="12191144" cy="6858000"/>
          </a:xfrm>
        </p:grpSpPr>
        <p:sp>
          <p:nvSpPr>
            <p:cNvPr id="130" name="Google Shape;130;p21"/>
            <p:cNvSpPr/>
            <p:nvPr/>
          </p:nvSpPr>
          <p:spPr>
            <a:xfrm>
              <a:off x="-35003" y="-1"/>
              <a:ext cx="12191144" cy="6858000"/>
            </a:xfrm>
            <a:prstGeom prst="rect">
              <a:avLst/>
            </a:prstGeom>
            <a:solidFill>
              <a:schemeClr val="lt1">
                <a:alpha val="98823"/>
              </a:schemeClr>
            </a:solidFill>
            <a:ln w="76200" cap="flat" cmpd="sng">
              <a:solidFill>
                <a:srgbClr val="00589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1" name="Google Shape;131;p21"/>
            <p:cNvGrpSpPr/>
            <p:nvPr/>
          </p:nvGrpSpPr>
          <p:grpSpPr>
            <a:xfrm>
              <a:off x="0" y="-1"/>
              <a:ext cx="1174375" cy="932329"/>
              <a:chOff x="1" y="0"/>
              <a:chExt cx="995082" cy="663388"/>
            </a:xfrm>
          </p:grpSpPr>
          <p:sp>
            <p:nvSpPr>
              <p:cNvPr id="132" name="Google Shape;132;p21"/>
              <p:cNvSpPr/>
              <p:nvPr/>
            </p:nvSpPr>
            <p:spPr>
              <a:xfrm>
                <a:off x="1" y="0"/>
                <a:ext cx="995082" cy="663388"/>
              </a:xfrm>
              <a:custGeom>
                <a:avLst/>
                <a:gdLst/>
                <a:ahLst/>
                <a:cxnLst/>
                <a:rect l="l" t="t" r="r" b="b"/>
                <a:pathLst>
                  <a:path w="7436484" h="5134610" extrusionOk="0">
                    <a:moveTo>
                      <a:pt x="7435941" y="0"/>
                    </a:moveTo>
                    <a:lnTo>
                      <a:pt x="0" y="0"/>
                    </a:lnTo>
                    <a:lnTo>
                      <a:pt x="0" y="5134513"/>
                    </a:lnTo>
                    <a:lnTo>
                      <a:pt x="7435941" y="0"/>
                    </a:lnTo>
                    <a:close/>
                  </a:path>
                </a:pathLst>
              </a:custGeom>
              <a:solidFill>
                <a:srgbClr val="005893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33;p21"/>
              <p:cNvSpPr/>
              <p:nvPr/>
            </p:nvSpPr>
            <p:spPr>
              <a:xfrm>
                <a:off x="73957" y="36743"/>
                <a:ext cx="383242" cy="310714"/>
              </a:xfrm>
              <a:prstGeom prst="rect">
                <a:avLst/>
              </a:prstGeom>
              <a:blipFill rotWithShape="1">
                <a:blip r:embed="rId2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34" name="Google Shape;134;p21"/>
          <p:cNvSpPr txBox="1">
            <a:spLocks noGrp="1"/>
          </p:cNvSpPr>
          <p:nvPr>
            <p:ph type="title"/>
          </p:nvPr>
        </p:nvSpPr>
        <p:spPr>
          <a:xfrm>
            <a:off x="629842" y="342900"/>
            <a:ext cx="2949177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1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1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36" name="Google Shape;136;p21"/>
          <p:cNvSpPr txBox="1">
            <a:spLocks noGrp="1"/>
          </p:cNvSpPr>
          <p:nvPr>
            <p:ph type="body" idx="2"/>
          </p:nvPr>
        </p:nvSpPr>
        <p:spPr>
          <a:xfrm>
            <a:off x="629842" y="1543050"/>
            <a:ext cx="2949177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37" name="Google Shape;137;p21"/>
          <p:cNvSpPr txBox="1">
            <a:spLocks noGrp="1"/>
          </p:cNvSpPr>
          <p:nvPr>
            <p:ph type="dt" idx="10"/>
          </p:nvPr>
        </p:nvSpPr>
        <p:spPr>
          <a:xfrm>
            <a:off x="628651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1"/>
          <p:cNvSpPr txBox="1">
            <a:spLocks noGrp="1"/>
          </p:cNvSpPr>
          <p:nvPr>
            <p:ph type="ftr" idx="11"/>
          </p:nvPr>
        </p:nvSpPr>
        <p:spPr>
          <a:xfrm>
            <a:off x="3028952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1"/>
          <p:cNvSpPr txBox="1">
            <a:spLocks noGrp="1"/>
          </p:cNvSpPr>
          <p:nvPr>
            <p:ph type="sldNum" idx="12"/>
          </p:nvPr>
        </p:nvSpPr>
        <p:spPr>
          <a:xfrm>
            <a:off x="6457951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40" name="Google Shape;140;p21"/>
          <p:cNvGrpSpPr/>
          <p:nvPr/>
        </p:nvGrpSpPr>
        <p:grpSpPr>
          <a:xfrm>
            <a:off x="7381663" y="13379"/>
            <a:ext cx="1735443" cy="450476"/>
            <a:chOff x="9682912" y="8965"/>
            <a:chExt cx="2402541" cy="600635"/>
          </a:xfrm>
        </p:grpSpPr>
        <p:sp>
          <p:nvSpPr>
            <p:cNvPr id="141" name="Google Shape;141;p21"/>
            <p:cNvSpPr/>
            <p:nvPr/>
          </p:nvSpPr>
          <p:spPr>
            <a:xfrm>
              <a:off x="9682912" y="8965"/>
              <a:ext cx="2402541" cy="600635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rgbClr val="00206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21"/>
            <p:cNvSpPr txBox="1"/>
            <p:nvPr/>
          </p:nvSpPr>
          <p:spPr>
            <a:xfrm>
              <a:off x="9803934" y="193190"/>
              <a:ext cx="2160495" cy="2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5775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 i="1">
                  <a:solidFill>
                    <a:srgbClr val="422C75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Go, change the world</a:t>
              </a:r>
              <a:endParaRPr sz="1100" b="1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629842" y="342900"/>
            <a:ext cx="2949177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2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1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46" name="Google Shape;146;p22"/>
          <p:cNvSpPr txBox="1">
            <a:spLocks noGrp="1"/>
          </p:cNvSpPr>
          <p:nvPr>
            <p:ph type="body" idx="1"/>
          </p:nvPr>
        </p:nvSpPr>
        <p:spPr>
          <a:xfrm>
            <a:off x="629842" y="1543050"/>
            <a:ext cx="2949177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47" name="Google Shape;147;p22"/>
          <p:cNvSpPr txBox="1">
            <a:spLocks noGrp="1"/>
          </p:cNvSpPr>
          <p:nvPr>
            <p:ph type="dt" idx="10"/>
          </p:nvPr>
        </p:nvSpPr>
        <p:spPr>
          <a:xfrm>
            <a:off x="628651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22"/>
          <p:cNvSpPr txBox="1">
            <a:spLocks noGrp="1"/>
          </p:cNvSpPr>
          <p:nvPr>
            <p:ph type="ftr" idx="11"/>
          </p:nvPr>
        </p:nvSpPr>
        <p:spPr>
          <a:xfrm>
            <a:off x="3028952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22"/>
          <p:cNvSpPr txBox="1">
            <a:spLocks noGrp="1"/>
          </p:cNvSpPr>
          <p:nvPr>
            <p:ph type="sldNum" idx="12"/>
          </p:nvPr>
        </p:nvSpPr>
        <p:spPr>
          <a:xfrm>
            <a:off x="6457951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/>
          <p:cNvSpPr txBox="1">
            <a:spLocks noGrp="1"/>
          </p:cNvSpPr>
          <p:nvPr>
            <p:ph type="title"/>
          </p:nvPr>
        </p:nvSpPr>
        <p:spPr>
          <a:xfrm>
            <a:off x="62865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3"/>
          <p:cNvSpPr txBox="1">
            <a:spLocks noGrp="1"/>
          </p:cNvSpPr>
          <p:nvPr>
            <p:ph type="body" idx="1"/>
          </p:nvPr>
        </p:nvSpPr>
        <p:spPr>
          <a:xfrm rot="5400000">
            <a:off x="2940250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3" name="Google Shape;153;p23"/>
          <p:cNvSpPr txBox="1">
            <a:spLocks noGrp="1"/>
          </p:cNvSpPr>
          <p:nvPr>
            <p:ph type="dt" idx="10"/>
          </p:nvPr>
        </p:nvSpPr>
        <p:spPr>
          <a:xfrm>
            <a:off x="628651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23"/>
          <p:cNvSpPr txBox="1">
            <a:spLocks noGrp="1"/>
          </p:cNvSpPr>
          <p:nvPr>
            <p:ph type="ftr" idx="11"/>
          </p:nvPr>
        </p:nvSpPr>
        <p:spPr>
          <a:xfrm>
            <a:off x="3028952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23"/>
          <p:cNvSpPr txBox="1">
            <a:spLocks noGrp="1"/>
          </p:cNvSpPr>
          <p:nvPr>
            <p:ph type="sldNum" idx="12"/>
          </p:nvPr>
        </p:nvSpPr>
        <p:spPr>
          <a:xfrm>
            <a:off x="6457951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4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4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9" name="Google Shape;159;p24"/>
          <p:cNvSpPr txBox="1">
            <a:spLocks noGrp="1"/>
          </p:cNvSpPr>
          <p:nvPr>
            <p:ph type="dt" idx="10"/>
          </p:nvPr>
        </p:nvSpPr>
        <p:spPr>
          <a:xfrm>
            <a:off x="628651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24"/>
          <p:cNvSpPr txBox="1">
            <a:spLocks noGrp="1"/>
          </p:cNvSpPr>
          <p:nvPr>
            <p:ph type="ftr" idx="11"/>
          </p:nvPr>
        </p:nvSpPr>
        <p:spPr>
          <a:xfrm>
            <a:off x="3028952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24"/>
          <p:cNvSpPr txBox="1">
            <a:spLocks noGrp="1"/>
          </p:cNvSpPr>
          <p:nvPr>
            <p:ph type="sldNum" idx="12"/>
          </p:nvPr>
        </p:nvSpPr>
        <p:spPr>
          <a:xfrm>
            <a:off x="6457951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1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1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2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1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5"/>
          <p:cNvSpPr txBox="1">
            <a:spLocks noGrp="1"/>
          </p:cNvSpPr>
          <p:nvPr>
            <p:ph type="dt" idx="10"/>
          </p:nvPr>
        </p:nvSpPr>
        <p:spPr>
          <a:xfrm>
            <a:off x="131109" y="476040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Monday, 19 January 2026</a:t>
            </a:r>
            <a:endParaRPr/>
          </a:p>
        </p:txBody>
      </p:sp>
      <p:sp>
        <p:nvSpPr>
          <p:cNvPr id="167" name="Google Shape;167;p25"/>
          <p:cNvSpPr txBox="1">
            <a:spLocks noGrp="1"/>
          </p:cNvSpPr>
          <p:nvPr>
            <p:ph type="sldNum" idx="12"/>
          </p:nvPr>
        </p:nvSpPr>
        <p:spPr>
          <a:xfrm>
            <a:off x="6955491" y="476040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pic>
        <p:nvPicPr>
          <p:cNvPr id="168" name="Google Shape;168;p25" descr="A building with a roof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16409" y="800258"/>
            <a:ext cx="8565806" cy="2920564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69" name="Google Shape;169;p25"/>
          <p:cNvSpPr/>
          <p:nvPr/>
        </p:nvSpPr>
        <p:spPr>
          <a:xfrm>
            <a:off x="289050" y="3608301"/>
            <a:ext cx="8620500" cy="1008300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700" b="1" dirty="0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Library Management System implemented using emu8086</a:t>
            </a:r>
            <a:endParaRPr sz="2700" b="1" dirty="0">
              <a:solidFill>
                <a:schemeClr val="lt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 txBox="1">
            <a:spLocks noGrp="1"/>
          </p:cNvSpPr>
          <p:nvPr>
            <p:ph type="dt" idx="10"/>
          </p:nvPr>
        </p:nvSpPr>
        <p:spPr>
          <a:xfrm>
            <a:off x="131109" y="476040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/>
              <a:t>Monday, 19 January 2026</a:t>
            </a:r>
            <a:endParaRPr/>
          </a:p>
        </p:txBody>
      </p:sp>
      <p:sp>
        <p:nvSpPr>
          <p:cNvPr id="175" name="Google Shape;175;p26"/>
          <p:cNvSpPr txBox="1">
            <a:spLocks noGrp="1"/>
          </p:cNvSpPr>
          <p:nvPr>
            <p:ph type="sldNum" idx="12"/>
          </p:nvPr>
        </p:nvSpPr>
        <p:spPr>
          <a:xfrm>
            <a:off x="6955491" y="476040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176" name="Google Shape;176;p26"/>
          <p:cNvSpPr txBox="1"/>
          <p:nvPr/>
        </p:nvSpPr>
        <p:spPr>
          <a:xfrm>
            <a:off x="1754624" y="134125"/>
            <a:ext cx="6413462" cy="47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1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6"/>
          <p:cNvSpPr txBox="1"/>
          <p:nvPr/>
        </p:nvSpPr>
        <p:spPr>
          <a:xfrm>
            <a:off x="1637071" y="67311"/>
            <a:ext cx="6113897" cy="66929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Presentation Outline</a:t>
            </a:r>
            <a:endParaRPr sz="1100" dirty="0"/>
          </a:p>
        </p:txBody>
      </p:sp>
      <p:sp>
        <p:nvSpPr>
          <p:cNvPr id="178" name="Google Shape;178;p26"/>
          <p:cNvSpPr txBox="1">
            <a:spLocks noGrp="1"/>
          </p:cNvSpPr>
          <p:nvPr>
            <p:ph type="body" idx="1"/>
          </p:nvPr>
        </p:nvSpPr>
        <p:spPr>
          <a:xfrm>
            <a:off x="203250" y="840976"/>
            <a:ext cx="8746200" cy="39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177800" lvl="0" indent="-1968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100"/>
              <a:buChar char="•"/>
            </a:pPr>
            <a:r>
              <a:rPr lang="en" dirty="0"/>
              <a:t>Introduction</a:t>
            </a:r>
          </a:p>
          <a:p>
            <a:pPr marL="177800" lvl="0" indent="-1968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100"/>
              <a:buChar char="•"/>
            </a:pPr>
            <a:r>
              <a:rPr lang="en" dirty="0"/>
              <a:t>Problem Statement</a:t>
            </a:r>
            <a:endParaRPr dirty="0"/>
          </a:p>
          <a:p>
            <a:pPr marL="177800" lvl="0" indent="-1968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2060"/>
              </a:buClr>
              <a:buSzPts val="2100"/>
              <a:buChar char="•"/>
            </a:pPr>
            <a:r>
              <a:rPr lang="en" dirty="0"/>
              <a:t>Objectives</a:t>
            </a:r>
            <a:endParaRPr dirty="0"/>
          </a:p>
          <a:p>
            <a:pPr marL="177800" lvl="0" indent="-1968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2060"/>
              </a:buClr>
              <a:buSzPts val="2100"/>
              <a:buChar char="•"/>
            </a:pPr>
            <a:r>
              <a:rPr lang="en" dirty="0"/>
              <a:t>Literature Review</a:t>
            </a:r>
            <a:endParaRPr dirty="0"/>
          </a:p>
          <a:p>
            <a:pPr marL="177800" lvl="0" indent="-1968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2060"/>
              </a:buClr>
              <a:buSzPts val="2100"/>
              <a:buChar char="•"/>
            </a:pPr>
            <a:r>
              <a:rPr lang="en" dirty="0"/>
              <a:t>Methodology</a:t>
            </a:r>
            <a:endParaRPr dirty="0"/>
          </a:p>
          <a:p>
            <a:pPr marL="177800" lvl="0" indent="-1968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2060"/>
              </a:buClr>
              <a:buSzPts val="2100"/>
              <a:buChar char="•"/>
            </a:pPr>
            <a:r>
              <a:rPr lang="en" dirty="0"/>
              <a:t>Design and Implementation</a:t>
            </a:r>
            <a:endParaRPr dirty="0"/>
          </a:p>
          <a:p>
            <a:pPr marL="177800" lvl="0" indent="-1968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2060"/>
              </a:buClr>
              <a:buSzPts val="2100"/>
              <a:buChar char="•"/>
            </a:pPr>
            <a:r>
              <a:rPr lang="en" dirty="0"/>
              <a:t>Results/Simulation</a:t>
            </a:r>
            <a:endParaRPr dirty="0"/>
          </a:p>
          <a:p>
            <a:pPr marL="177800" lvl="0" indent="-1968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2060"/>
              </a:buClr>
              <a:buSzPts val="2100"/>
              <a:buChar char="•"/>
            </a:pPr>
            <a:r>
              <a:rPr lang="en" dirty="0"/>
              <a:t>Future Scope</a:t>
            </a:r>
            <a:endParaRPr dirty="0"/>
          </a:p>
          <a:p>
            <a:pPr marL="177800" lvl="0" indent="-1968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2060"/>
              </a:buClr>
              <a:buSzPts val="2100"/>
              <a:buChar char="•"/>
            </a:pPr>
            <a:r>
              <a:rPr lang="en" dirty="0"/>
              <a:t>Conclusion</a:t>
            </a:r>
            <a:endParaRPr dirty="0"/>
          </a:p>
          <a:p>
            <a:pPr marL="177800" lvl="0" indent="-1968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2060"/>
              </a:buClr>
              <a:buSzPts val="2100"/>
              <a:buChar char="•"/>
            </a:pPr>
            <a:r>
              <a:rPr lang="en" dirty="0"/>
              <a:t>References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7"/>
          <p:cNvSpPr txBox="1">
            <a:spLocks noGrp="1"/>
          </p:cNvSpPr>
          <p:nvPr>
            <p:ph type="body" idx="1"/>
          </p:nvPr>
        </p:nvSpPr>
        <p:spPr>
          <a:xfrm>
            <a:off x="172775" y="771300"/>
            <a:ext cx="8881800" cy="39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 sz="1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Library management is a fundamental requirement in education institutions and data driven environments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 sz="1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Traditional manual systems are inefficient, difficult to scale and prone to record inconsistencies 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 sz="1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existing implementations rely on high-level languages, offering limited visibility into processor-level memory operations 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 sz="1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project implements a menu-driven </a:t>
            </a:r>
            <a:r>
              <a:rPr lang="en-US" sz="17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Library Management System using 8086 Assembly Language 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 sz="1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Parallel in-memory array structures are used to manage student records, book inventories and issue logs efficiently 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 sz="1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Base-indexed addressing and pointer arithmetic ensure safe memory handling in a </a:t>
            </a:r>
            <a:r>
              <a:rPr lang="en-US" sz="17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16-bit </a:t>
            </a:r>
            <a:r>
              <a:rPr lang="en-US" sz="1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real-mode environment 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 sz="1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supports authentication, signup approval, book issuing/return, inventory tracking and deadline simulation </a:t>
            </a:r>
          </a:p>
        </p:txBody>
      </p:sp>
      <p:sp>
        <p:nvSpPr>
          <p:cNvPr id="184" name="Google Shape;184;p27"/>
          <p:cNvSpPr txBox="1">
            <a:spLocks noGrp="1"/>
          </p:cNvSpPr>
          <p:nvPr>
            <p:ph type="dt" idx="10"/>
          </p:nvPr>
        </p:nvSpPr>
        <p:spPr>
          <a:xfrm>
            <a:off x="131109" y="476040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/>
              <a:t>Monday, 19 January 2026</a:t>
            </a:r>
            <a:endParaRPr/>
          </a:p>
        </p:txBody>
      </p:sp>
      <p:sp>
        <p:nvSpPr>
          <p:cNvPr id="185" name="Google Shape;185;p27"/>
          <p:cNvSpPr txBox="1">
            <a:spLocks noGrp="1"/>
          </p:cNvSpPr>
          <p:nvPr>
            <p:ph type="sldNum" idx="12"/>
          </p:nvPr>
        </p:nvSpPr>
        <p:spPr>
          <a:xfrm>
            <a:off x="6955491" y="476040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No. </a:t>
            </a: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186" name="Google Shape;186;p27"/>
          <p:cNvSpPr txBox="1"/>
          <p:nvPr/>
        </p:nvSpPr>
        <p:spPr>
          <a:xfrm>
            <a:off x="1005996" y="3"/>
            <a:ext cx="7375800" cy="6297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Introduction</a:t>
            </a:r>
            <a:endParaRPr sz="3000" b="1">
              <a:solidFill>
                <a:srgbClr val="C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8"/>
          <p:cNvSpPr txBox="1">
            <a:spLocks noGrp="1"/>
          </p:cNvSpPr>
          <p:nvPr>
            <p:ph type="body" idx="1"/>
          </p:nvPr>
        </p:nvSpPr>
        <p:spPr>
          <a:xfrm>
            <a:off x="0" y="943700"/>
            <a:ext cx="9144000" cy="36891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95250" indent="0">
              <a:buNone/>
            </a:pPr>
            <a:r>
              <a:rPr lang="en-US" sz="2000" dirty="0"/>
              <a:t>Library management is an essential institutional process, yet manual systems and basic digital solutions often lead to inefficient record handling, weak access control, and data inconsistencies. High-level implementations abstract internal memory operations, limiting understanding of low-level system behavior. Designing a secure and efficient library management system on the 8086 architecture is challenging due to fixed memory constraints, segmented addressing, and dynamic record manipulation requirements. Therefore, a structured assembly-level solution is needed to ensure secure authentication, efficient in-memory data handling, and reliable operation within real-mode architectural limitations.</a:t>
            </a:r>
          </a:p>
        </p:txBody>
      </p:sp>
      <p:sp>
        <p:nvSpPr>
          <p:cNvPr id="192" name="Google Shape;192;p28"/>
          <p:cNvSpPr txBox="1"/>
          <p:nvPr/>
        </p:nvSpPr>
        <p:spPr>
          <a:xfrm>
            <a:off x="645875" y="0"/>
            <a:ext cx="8009700" cy="9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3000" b="1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Problem Statement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9"/>
          <p:cNvSpPr txBox="1">
            <a:spLocks noGrp="1"/>
          </p:cNvSpPr>
          <p:nvPr>
            <p:ph type="body" idx="1"/>
          </p:nvPr>
        </p:nvSpPr>
        <p:spPr>
          <a:xfrm>
            <a:off x="86047" y="791049"/>
            <a:ext cx="8881800" cy="36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177800" lvl="0" indent="-15875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900"/>
              <a:buChar char="•"/>
            </a:pPr>
            <a:r>
              <a:rPr lang="en-US" sz="1590" dirty="0"/>
              <a:t>To design a menu-driven Library Management System using 8086 Assembly Language </a:t>
            </a:r>
          </a:p>
          <a:p>
            <a:pPr marL="177800" lvl="0" indent="-15875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900"/>
              <a:buChar char="•"/>
            </a:pPr>
            <a:r>
              <a:rPr lang="en-US" sz="1590" dirty="0"/>
              <a:t>To manage student records, book inventories and issuance logs efficiently </a:t>
            </a:r>
          </a:p>
          <a:p>
            <a:pPr marL="177800" lvl="0" indent="-15875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900"/>
              <a:buChar char="•"/>
            </a:pPr>
            <a:r>
              <a:rPr lang="en-US" sz="1590" dirty="0"/>
              <a:t>To implement secure authentication with role-based access control (Admin and Student)</a:t>
            </a:r>
          </a:p>
          <a:p>
            <a:pPr marL="177800" lvl="0" indent="-15875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900"/>
              <a:buChar char="•"/>
            </a:pPr>
            <a:r>
              <a:rPr lang="en-US" sz="1590" dirty="0"/>
              <a:t>To ensure safe memory handling using base-indexed addressing and pointer arithmetic </a:t>
            </a:r>
          </a:p>
          <a:p>
            <a:pPr marL="177800" lvl="0" indent="-15875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900"/>
              <a:buChar char="•"/>
            </a:pPr>
            <a:r>
              <a:rPr lang="en-US" sz="1590" dirty="0"/>
              <a:t>To implement dynamic record manipulation through structured memory shifting techniques </a:t>
            </a:r>
          </a:p>
          <a:p>
            <a:pPr marL="177800" lvl="0" indent="-15875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900"/>
              <a:buChar char="•"/>
            </a:pPr>
            <a:r>
              <a:rPr lang="en-US" sz="1590" dirty="0"/>
              <a:t>To apply modular and structured assembly programming principles </a:t>
            </a:r>
          </a:p>
          <a:p>
            <a:pPr marL="177800" lvl="0" indent="-15875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900"/>
              <a:buChar char="•"/>
            </a:pPr>
            <a:r>
              <a:rPr lang="en-US" sz="1590" dirty="0"/>
              <a:t>To ensure accuracy, reliability and efficient data handling within fixed 16-bit real-mode memory limits </a:t>
            </a:r>
          </a:p>
        </p:txBody>
      </p:sp>
      <p:sp>
        <p:nvSpPr>
          <p:cNvPr id="198" name="Google Shape;198;p29"/>
          <p:cNvSpPr txBox="1">
            <a:spLocks noGrp="1"/>
          </p:cNvSpPr>
          <p:nvPr>
            <p:ph type="dt" idx="10"/>
          </p:nvPr>
        </p:nvSpPr>
        <p:spPr>
          <a:xfrm>
            <a:off x="131109" y="476040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/>
              <a:t>Monday, 19 January 2026</a:t>
            </a:r>
            <a:endParaRPr/>
          </a:p>
        </p:txBody>
      </p:sp>
      <p:sp>
        <p:nvSpPr>
          <p:cNvPr id="199" name="Google Shape;199;p29"/>
          <p:cNvSpPr txBox="1">
            <a:spLocks noGrp="1"/>
          </p:cNvSpPr>
          <p:nvPr>
            <p:ph type="sldNum" idx="12"/>
          </p:nvPr>
        </p:nvSpPr>
        <p:spPr>
          <a:xfrm>
            <a:off x="6955491" y="476040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No. </a:t>
            </a: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200" name="Google Shape;200;p29"/>
          <p:cNvSpPr txBox="1"/>
          <p:nvPr/>
        </p:nvSpPr>
        <p:spPr>
          <a:xfrm>
            <a:off x="1294171" y="109253"/>
            <a:ext cx="6465529" cy="401526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Objectives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0"/>
          <p:cNvSpPr txBox="1">
            <a:spLocks noGrp="1"/>
          </p:cNvSpPr>
          <p:nvPr>
            <p:ph type="body" idx="1"/>
          </p:nvPr>
        </p:nvSpPr>
        <p:spPr>
          <a:xfrm>
            <a:off x="131100" y="738800"/>
            <a:ext cx="8881800" cy="41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dirty="0"/>
              <a:t>Development Environment</a:t>
            </a:r>
            <a:endParaRPr sz="1400" b="1" dirty="0"/>
          </a:p>
          <a:p>
            <a:pPr marL="457200" lvl="0" indent="-3429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2060"/>
              </a:buClr>
              <a:buSzPts val="1800"/>
              <a:buChar char="●"/>
            </a:pPr>
            <a:r>
              <a:rPr lang="en" sz="1400" b="1" dirty="0"/>
              <a:t>Language/Assembler: </a:t>
            </a:r>
            <a:r>
              <a:rPr lang="en" sz="1400" dirty="0"/>
              <a:t>8086 Assembly Language (ALP)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2060"/>
              </a:buClr>
              <a:buSzPts val="1800"/>
              <a:buChar char="●"/>
            </a:pPr>
            <a:r>
              <a:rPr lang="en" sz="1400" b="1" dirty="0"/>
              <a:t>Assembler/Simulator: </a:t>
            </a:r>
            <a:r>
              <a:rPr lang="en" sz="1400" dirty="0"/>
              <a:t>emu8086</a:t>
            </a:r>
            <a:endParaRPr sz="1400" b="1" dirty="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Char char="●"/>
            </a:pPr>
            <a:r>
              <a:rPr lang="en" sz="1400" b="1" dirty="0"/>
              <a:t>Target Architecture:</a:t>
            </a:r>
            <a:r>
              <a:rPr lang="en" sz="1400" dirty="0"/>
              <a:t> Intel 8086 Microprocessor.</a:t>
            </a:r>
            <a:endParaRPr sz="1400" dirty="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Char char="●"/>
            </a:pPr>
            <a:r>
              <a:rPr lang="en" sz="1400" b="1" dirty="0"/>
              <a:t>Memory Model:</a:t>
            </a:r>
            <a:r>
              <a:rPr lang="en" sz="1400" dirty="0"/>
              <a:t> Small (64KB Code + 64KB Data Segments).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Char char="●"/>
            </a:pPr>
            <a:r>
              <a:rPr lang="en" sz="1400" b="1" dirty="0"/>
              <a:t>I/O: </a:t>
            </a:r>
            <a:r>
              <a:rPr lang="en" sz="1400" dirty="0"/>
              <a:t>DOS interrupts (INT 21h)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Char char="●"/>
            </a:pPr>
            <a:r>
              <a:rPr lang="en" sz="1400" b="1" dirty="0"/>
              <a:t>Execution Mode: </a:t>
            </a:r>
            <a:r>
              <a:rPr lang="en" sz="1400" dirty="0"/>
              <a:t>16-bit Real Mode</a:t>
            </a:r>
            <a:endParaRPr sz="1400" b="1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 b="1" dirty="0"/>
              <a:t>Data Structure Architecture: Overview</a:t>
            </a:r>
            <a:endParaRPr sz="1400" b="1" dirty="0"/>
          </a:p>
          <a:p>
            <a:pPr marL="457200" lvl="0" indent="-3429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2060"/>
              </a:buClr>
              <a:buSzPts val="1800"/>
              <a:buChar char="●"/>
            </a:pPr>
            <a:r>
              <a:rPr lang="en" sz="1400" b="1" dirty="0"/>
              <a:t>Challenge: </a:t>
            </a:r>
            <a:r>
              <a:rPr lang="en" sz="1400" dirty="0"/>
              <a:t>Managing multiple users (Admin &amp; Student), book records, and issuance logs within fixed 16-bit segmented memory while maintaining secure state transitions </a:t>
            </a:r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</a:pPr>
            <a:r>
              <a:rPr lang="en" sz="1400" b="1" dirty="0"/>
              <a:t>Solution:</a:t>
            </a:r>
            <a:r>
              <a:rPr lang="en" sz="1400" dirty="0"/>
              <a:t> </a:t>
            </a:r>
            <a:r>
              <a:rPr lang="en" sz="1400" b="1" dirty="0"/>
              <a:t>Parallel in-memory arrays with indexed addressing</a:t>
            </a:r>
          </a:p>
          <a:p>
            <a:pPr marL="4000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Courier New" panose="02070309020205020404" pitchFamily="49" charset="0"/>
              <a:buChar char="o"/>
            </a:pPr>
            <a:r>
              <a:rPr lang="en" sz="1400" dirty="0"/>
              <a:t>Efficient contiguous storage</a:t>
            </a:r>
          </a:p>
          <a:p>
            <a:pPr marL="4000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Courier New" panose="02070309020205020404" pitchFamily="49" charset="0"/>
              <a:buChar char="o"/>
            </a:pPr>
            <a:r>
              <a:rPr lang="en" sz="1400" dirty="0">
                <a:solidFill>
                  <a:srgbClr val="002060"/>
                </a:solidFill>
              </a:rPr>
              <a:t>Pointer-based record mapping</a:t>
            </a:r>
          </a:p>
          <a:p>
            <a:pPr marL="4000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Courier New" panose="02070309020205020404" pitchFamily="49" charset="0"/>
              <a:buChar char="o"/>
            </a:pPr>
            <a:r>
              <a:rPr lang="en" sz="1400" dirty="0"/>
              <a:t>Memory shifting to avoid fragmentation </a:t>
            </a:r>
          </a:p>
          <a:p>
            <a:pPr marL="4000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Courier New" panose="02070309020205020404" pitchFamily="49" charset="0"/>
              <a:buChar char="o"/>
            </a:pPr>
            <a:r>
              <a:rPr lang="en" sz="1400" dirty="0">
                <a:solidFill>
                  <a:srgbClr val="002060"/>
                </a:solidFill>
              </a:rPr>
              <a:t>Role-based </a:t>
            </a:r>
            <a:r>
              <a:rPr lang="en" sz="1400" dirty="0"/>
              <a:t>access control via state logic</a:t>
            </a:r>
            <a:endParaRPr sz="1400" dirty="0">
              <a:solidFill>
                <a:srgbClr val="002060"/>
              </a:solidFill>
            </a:endParaRPr>
          </a:p>
        </p:txBody>
      </p:sp>
      <p:sp>
        <p:nvSpPr>
          <p:cNvPr id="206" name="Google Shape;206;p30"/>
          <p:cNvSpPr txBox="1">
            <a:spLocks noGrp="1"/>
          </p:cNvSpPr>
          <p:nvPr>
            <p:ph type="dt" idx="10"/>
          </p:nvPr>
        </p:nvSpPr>
        <p:spPr>
          <a:xfrm>
            <a:off x="131109" y="476040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/>
              <a:t>Monday, 19 January 2026</a:t>
            </a:r>
            <a:endParaRPr/>
          </a:p>
        </p:txBody>
      </p:sp>
      <p:sp>
        <p:nvSpPr>
          <p:cNvPr id="207" name="Google Shape;207;p30"/>
          <p:cNvSpPr txBox="1">
            <a:spLocks noGrp="1"/>
          </p:cNvSpPr>
          <p:nvPr>
            <p:ph type="sldNum" idx="12"/>
          </p:nvPr>
        </p:nvSpPr>
        <p:spPr>
          <a:xfrm>
            <a:off x="6955491" y="476040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No. </a:t>
            </a: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208" name="Google Shape;208;p30"/>
          <p:cNvSpPr txBox="1"/>
          <p:nvPr/>
        </p:nvSpPr>
        <p:spPr>
          <a:xfrm>
            <a:off x="1040171" y="109252"/>
            <a:ext cx="7375800" cy="6297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Methodology</a:t>
            </a:r>
            <a:endParaRPr sz="3000" b="1">
              <a:solidFill>
                <a:srgbClr val="C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1"/>
          <p:cNvSpPr txBox="1">
            <a:spLocks noGrp="1"/>
          </p:cNvSpPr>
          <p:nvPr>
            <p:ph type="body" idx="1"/>
          </p:nvPr>
        </p:nvSpPr>
        <p:spPr>
          <a:xfrm>
            <a:off x="131100" y="738800"/>
            <a:ext cx="8881800" cy="41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dirty="0"/>
              <a:t>Memory Layout Design</a:t>
            </a:r>
            <a:endParaRPr sz="1400" b="1" dirty="0"/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400" b="1" dirty="0"/>
              <a:t>1. </a:t>
            </a:r>
            <a:r>
              <a:rPr lang="en-US" sz="1400" b="1" dirty="0"/>
              <a:t>Student Records (Array)</a:t>
            </a:r>
          </a:p>
          <a:p>
            <a:pPr marL="457200" lvl="0" indent="-3365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2060"/>
              </a:buClr>
              <a:buSzPts val="1700"/>
              <a:buChar char="●"/>
            </a:pPr>
            <a:r>
              <a:rPr lang="en-US" sz="1400" b="1" dirty="0"/>
              <a:t>Size:</a:t>
            </a:r>
            <a:r>
              <a:rPr lang="en-US" sz="1400" dirty="0"/>
              <a:t> 64 Bytes per record.</a:t>
            </a:r>
          </a:p>
          <a:p>
            <a:pPr marL="45720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700"/>
              <a:buFont typeface="Bookman Old Style"/>
              <a:buChar char="●"/>
            </a:pPr>
            <a:r>
              <a:rPr lang="en-US" sz="1400" b="1" dirty="0"/>
              <a:t>Layout:</a:t>
            </a:r>
          </a:p>
          <a:p>
            <a:pPr marL="914400" lvl="1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700"/>
              <a:buChar char="○"/>
            </a:pPr>
            <a:r>
              <a:rPr lang="en-US" sz="1400" b="1" dirty="0">
                <a:solidFill>
                  <a:srgbClr val="002060"/>
                </a:solidFill>
              </a:rPr>
              <a:t>Bytes 0-15: </a:t>
            </a:r>
            <a:r>
              <a:rPr lang="en-US" sz="1400" dirty="0">
                <a:solidFill>
                  <a:srgbClr val="002060"/>
                </a:solidFill>
              </a:rPr>
              <a:t>Student ID (16-byte ASCII)</a:t>
            </a:r>
          </a:p>
          <a:p>
            <a:pPr marL="914400" lvl="1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700"/>
              <a:buChar char="○"/>
            </a:pPr>
            <a:r>
              <a:rPr lang="en-US" sz="1400" b="1" dirty="0">
                <a:solidFill>
                  <a:srgbClr val="002060"/>
                </a:solidFill>
              </a:rPr>
              <a:t>Bytes 16-31: </a:t>
            </a:r>
            <a:r>
              <a:rPr lang="en-US" sz="1400" dirty="0">
                <a:solidFill>
                  <a:srgbClr val="002060"/>
                </a:solidFill>
              </a:rPr>
              <a:t>Encrypted Password (16 bytes)</a:t>
            </a:r>
          </a:p>
          <a:p>
            <a:pPr marL="914400" lvl="1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700"/>
              <a:buChar char="○"/>
            </a:pPr>
            <a:r>
              <a:rPr lang="en-US" sz="1400" b="1" dirty="0">
                <a:solidFill>
                  <a:srgbClr val="002060"/>
                </a:solidFill>
              </a:rPr>
              <a:t>Bytes 32-55: </a:t>
            </a:r>
            <a:r>
              <a:rPr lang="en-US" sz="1400" dirty="0">
                <a:solidFill>
                  <a:srgbClr val="002060"/>
                </a:solidFill>
              </a:rPr>
              <a:t>Name (24-byte ASCII string)</a:t>
            </a:r>
          </a:p>
          <a:p>
            <a:pPr marL="914400" lvl="1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700"/>
              <a:buChar char="○"/>
            </a:pPr>
            <a:r>
              <a:rPr lang="en-US" sz="1400" b="1" dirty="0">
                <a:solidFill>
                  <a:srgbClr val="002060"/>
                </a:solidFill>
              </a:rPr>
              <a:t>Bytes 56: </a:t>
            </a:r>
            <a:r>
              <a:rPr lang="en-US" sz="1400" dirty="0">
                <a:solidFill>
                  <a:srgbClr val="002060"/>
                </a:solidFill>
              </a:rPr>
              <a:t>Role/Status Flage (Admi/Student/Pending/Locked)</a:t>
            </a:r>
          </a:p>
          <a:p>
            <a:pPr marL="914400" lvl="1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700"/>
              <a:buChar char="○"/>
            </a:pPr>
            <a:r>
              <a:rPr lang="en-US" sz="1400" b="1" dirty="0">
                <a:solidFill>
                  <a:srgbClr val="002060"/>
                </a:solidFill>
              </a:rPr>
              <a:t>Bytes 57-63: </a:t>
            </a:r>
            <a:r>
              <a:rPr lang="en-US" sz="1400" dirty="0">
                <a:solidFill>
                  <a:srgbClr val="002060"/>
                </a:solidFill>
              </a:rPr>
              <a:t>Reserved/Future Expansion</a:t>
            </a:r>
            <a:endParaRPr lang="en-US" sz="1400" b="1" dirty="0">
              <a:solidFill>
                <a:srgbClr val="00206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 b="1" dirty="0"/>
              <a:t>2. Book Records (Array)</a:t>
            </a:r>
          </a:p>
          <a:p>
            <a:pPr marL="457200" lvl="0" indent="-3365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2060"/>
              </a:buClr>
              <a:buSzPts val="1700"/>
              <a:buChar char="●"/>
            </a:pPr>
            <a:r>
              <a:rPr lang="en-US" sz="1400" b="1" dirty="0"/>
              <a:t>Size:</a:t>
            </a:r>
            <a:r>
              <a:rPr lang="en-US" sz="1400" dirty="0"/>
              <a:t> 48 Bytes per record.</a:t>
            </a:r>
          </a:p>
          <a:p>
            <a:pPr marL="45720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700"/>
              <a:buFont typeface="Bookman Old Style"/>
              <a:buChar char="●"/>
            </a:pPr>
            <a:r>
              <a:rPr lang="en-US" sz="1400" b="1" dirty="0"/>
              <a:t>Layout:</a:t>
            </a:r>
          </a:p>
          <a:p>
            <a:pPr marL="914400" lvl="1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700"/>
              <a:buChar char="○"/>
            </a:pPr>
            <a:r>
              <a:rPr lang="en-US" sz="1400" b="1" dirty="0">
                <a:solidFill>
                  <a:srgbClr val="002060"/>
                </a:solidFill>
              </a:rPr>
              <a:t>Bytes 0-15:</a:t>
            </a:r>
            <a:r>
              <a:rPr lang="en-US" sz="1400" dirty="0">
                <a:solidFill>
                  <a:srgbClr val="002060"/>
                </a:solidFill>
              </a:rPr>
              <a:t> Book ID (16 bytes ASCII).</a:t>
            </a:r>
          </a:p>
          <a:p>
            <a:pPr marL="914400" lvl="1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700"/>
              <a:buChar char="○"/>
            </a:pPr>
            <a:r>
              <a:rPr lang="en-US" sz="1400" b="1" dirty="0">
                <a:solidFill>
                  <a:srgbClr val="002060"/>
                </a:solidFill>
              </a:rPr>
              <a:t>Bytes 16-39: </a:t>
            </a:r>
            <a:r>
              <a:rPr lang="en-US" sz="1400" dirty="0">
                <a:solidFill>
                  <a:srgbClr val="002060"/>
                </a:solidFill>
              </a:rPr>
              <a:t>Book Title (24-byte ASCII string)</a:t>
            </a:r>
          </a:p>
          <a:p>
            <a:pPr marL="914400" lvl="1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700"/>
              <a:buChar char="○"/>
            </a:pPr>
            <a:r>
              <a:rPr lang="en-US" sz="1400" b="1" dirty="0">
                <a:solidFill>
                  <a:srgbClr val="002060"/>
                </a:solidFill>
              </a:rPr>
              <a:t>Bytes 40: </a:t>
            </a:r>
            <a:r>
              <a:rPr lang="en-US" sz="1400" dirty="0">
                <a:solidFill>
                  <a:srgbClr val="002060"/>
                </a:solidFill>
              </a:rPr>
              <a:t>Availability Flag (Issued/Available)</a:t>
            </a:r>
          </a:p>
          <a:p>
            <a:pPr marL="914400" lvl="1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700"/>
              <a:buChar char="○"/>
            </a:pPr>
            <a:r>
              <a:rPr lang="en-US" sz="1400" b="1" dirty="0">
                <a:solidFill>
                  <a:srgbClr val="002060"/>
                </a:solidFill>
              </a:rPr>
              <a:t>Bytes 41-47: </a:t>
            </a:r>
            <a:r>
              <a:rPr lang="en-US" sz="1400" dirty="0">
                <a:solidFill>
                  <a:srgbClr val="002060"/>
                </a:solidFill>
              </a:rPr>
              <a:t>Issued to index/padding</a:t>
            </a:r>
            <a:endParaRPr lang="en-US" sz="1400" b="1" dirty="0">
              <a:solidFill>
                <a:srgbClr val="002060"/>
              </a:solidFill>
            </a:endParaRPr>
          </a:p>
        </p:txBody>
      </p:sp>
      <p:sp>
        <p:nvSpPr>
          <p:cNvPr id="214" name="Google Shape;214;p31"/>
          <p:cNvSpPr txBox="1">
            <a:spLocks noGrp="1"/>
          </p:cNvSpPr>
          <p:nvPr>
            <p:ph type="dt" idx="10"/>
          </p:nvPr>
        </p:nvSpPr>
        <p:spPr>
          <a:xfrm>
            <a:off x="131109" y="476040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/>
              <a:t>Monday, 19 January 2026</a:t>
            </a:r>
            <a:endParaRPr/>
          </a:p>
        </p:txBody>
      </p:sp>
      <p:sp>
        <p:nvSpPr>
          <p:cNvPr id="215" name="Google Shape;215;p31"/>
          <p:cNvSpPr txBox="1">
            <a:spLocks noGrp="1"/>
          </p:cNvSpPr>
          <p:nvPr>
            <p:ph type="sldNum" idx="12"/>
          </p:nvPr>
        </p:nvSpPr>
        <p:spPr>
          <a:xfrm>
            <a:off x="6955491" y="476040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No. </a:t>
            </a: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216" name="Google Shape;216;p31"/>
          <p:cNvSpPr txBox="1"/>
          <p:nvPr/>
        </p:nvSpPr>
        <p:spPr>
          <a:xfrm>
            <a:off x="1040171" y="109252"/>
            <a:ext cx="7375820" cy="62955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Methodology</a:t>
            </a:r>
            <a:endParaRPr sz="3000" b="1">
              <a:solidFill>
                <a:srgbClr val="C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2"/>
          <p:cNvSpPr txBox="1">
            <a:spLocks noGrp="1"/>
          </p:cNvSpPr>
          <p:nvPr>
            <p:ph type="body" idx="1"/>
          </p:nvPr>
        </p:nvSpPr>
        <p:spPr>
          <a:xfrm>
            <a:off x="131100" y="738800"/>
            <a:ext cx="8881800" cy="41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b="1" dirty="0"/>
              <a:t>3. Issue Records (Parallel Arrays)</a:t>
            </a:r>
            <a:endParaRPr sz="1500" b="1" dirty="0"/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2060"/>
              </a:buClr>
              <a:buSzPts val="1500"/>
              <a:buChar char="●"/>
            </a:pPr>
            <a:r>
              <a:rPr lang="en-US" sz="1500" b="1" dirty="0"/>
              <a:t>Logical Record Size: </a:t>
            </a:r>
            <a:r>
              <a:rPr lang="en-US" sz="1500" dirty="0"/>
              <a:t>7 Bytes per Issue</a:t>
            </a:r>
            <a:endParaRPr sz="1500" b="1" dirty="0"/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500"/>
              <a:buFont typeface="Bookman Old Style"/>
              <a:buChar char="●"/>
            </a:pPr>
            <a:r>
              <a:rPr lang="en" sz="1500" b="1" dirty="0"/>
              <a:t>Layout:</a:t>
            </a:r>
            <a:endParaRPr sz="1500" b="1" dirty="0"/>
          </a:p>
          <a:p>
            <a:pPr marL="91440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500"/>
              <a:buChar char="○"/>
            </a:pPr>
            <a:r>
              <a:rPr lang="en-US" sz="1500" b="1" dirty="0" err="1">
                <a:solidFill>
                  <a:srgbClr val="002060"/>
                </a:solidFill>
              </a:rPr>
              <a:t>issue_bookno</a:t>
            </a:r>
            <a:r>
              <a:rPr lang="en-US" sz="1500" b="1" dirty="0">
                <a:solidFill>
                  <a:srgbClr val="002060"/>
                </a:solidFill>
              </a:rPr>
              <a:t>[k]: </a:t>
            </a:r>
            <a:r>
              <a:rPr lang="en-US" sz="1500" dirty="0">
                <a:solidFill>
                  <a:srgbClr val="002060"/>
                </a:solidFill>
              </a:rPr>
              <a:t>1 Byte (Book Number)</a:t>
            </a:r>
          </a:p>
          <a:p>
            <a:pPr marL="91440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500"/>
              <a:buChar char="○"/>
            </a:pPr>
            <a:r>
              <a:rPr lang="en-US" sz="1500" b="1" dirty="0" err="1">
                <a:solidFill>
                  <a:srgbClr val="002060"/>
                </a:solidFill>
              </a:rPr>
              <a:t>issue_userid</a:t>
            </a:r>
            <a:r>
              <a:rPr lang="en-US" sz="1500" b="1" dirty="0">
                <a:solidFill>
                  <a:srgbClr val="002060"/>
                </a:solidFill>
              </a:rPr>
              <a:t>[k x 5] to </a:t>
            </a:r>
            <a:r>
              <a:rPr lang="en-US" sz="1500" b="1" dirty="0" err="1">
                <a:solidFill>
                  <a:srgbClr val="002060"/>
                </a:solidFill>
              </a:rPr>
              <a:t>issue_userid</a:t>
            </a:r>
            <a:r>
              <a:rPr lang="en-US" sz="1500" b="1" dirty="0">
                <a:solidFill>
                  <a:srgbClr val="002060"/>
                </a:solidFill>
              </a:rPr>
              <a:t>[k x 5 + 4]: </a:t>
            </a:r>
            <a:r>
              <a:rPr lang="en-US" sz="1500" dirty="0">
                <a:solidFill>
                  <a:srgbClr val="002060"/>
                </a:solidFill>
              </a:rPr>
              <a:t>5 Bytes (Student/User ID)</a:t>
            </a:r>
          </a:p>
          <a:p>
            <a:pPr marL="91440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500"/>
              <a:buChar char="○"/>
            </a:pPr>
            <a:r>
              <a:rPr lang="en-US" sz="1500" b="1" dirty="0" err="1">
                <a:solidFill>
                  <a:srgbClr val="002060"/>
                </a:solidFill>
              </a:rPr>
              <a:t>issue_days</a:t>
            </a:r>
            <a:r>
              <a:rPr lang="en-US" sz="1500" b="1" dirty="0">
                <a:solidFill>
                  <a:srgbClr val="002060"/>
                </a:solidFill>
              </a:rPr>
              <a:t>[k]: </a:t>
            </a:r>
            <a:r>
              <a:rPr lang="en-US" sz="1500" dirty="0">
                <a:solidFill>
                  <a:srgbClr val="002060"/>
                </a:solidFill>
              </a:rPr>
              <a:t>1 Byte (Issue Days Counter)</a:t>
            </a:r>
            <a:endParaRPr lang="en-US" sz="1500" b="1" dirty="0">
              <a:solidFill>
                <a:srgbClr val="00206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b="1" dirty="0"/>
              <a:t>4. Indexed Relational Mapping Approach</a:t>
            </a:r>
            <a:endParaRPr lang="en-US" sz="1500" b="1" dirty="0"/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 b="1" dirty="0"/>
              <a:t>Array-Based Structure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 dirty="0"/>
              <a:t>Every issue record stored relational indices:</a:t>
            </a:r>
            <a:endParaRPr sz="1500" dirty="0"/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2060"/>
              </a:buClr>
              <a:buSzPts val="1500"/>
              <a:buAutoNum type="arabicPeriod"/>
            </a:pPr>
            <a:r>
              <a:rPr lang="en" sz="1500" b="1" dirty="0"/>
              <a:t>Student Reference: </a:t>
            </a:r>
            <a:r>
              <a:rPr lang="en" sz="1500" dirty="0"/>
              <a:t>Stores the User ID associated with the issue</a:t>
            </a:r>
            <a:endParaRPr sz="1500" dirty="0"/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500"/>
              <a:buAutoNum type="arabicPeriod"/>
            </a:pPr>
            <a:r>
              <a:rPr lang="en-US" sz="1500" b="1" dirty="0"/>
              <a:t>Book Reference: </a:t>
            </a:r>
            <a:r>
              <a:rPr lang="en-US" sz="1500" dirty="0"/>
              <a:t>Stores the Book Number associated with the issue</a:t>
            </a:r>
            <a:endParaRPr sz="1500" b="1" dirty="0"/>
          </a:p>
        </p:txBody>
      </p:sp>
      <p:sp>
        <p:nvSpPr>
          <p:cNvPr id="222" name="Google Shape;222;p32"/>
          <p:cNvSpPr txBox="1">
            <a:spLocks noGrp="1"/>
          </p:cNvSpPr>
          <p:nvPr>
            <p:ph type="dt" idx="10"/>
          </p:nvPr>
        </p:nvSpPr>
        <p:spPr>
          <a:xfrm>
            <a:off x="131109" y="476040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/>
              <a:t>Monday, 19 January 2026</a:t>
            </a:r>
            <a:endParaRPr/>
          </a:p>
        </p:txBody>
      </p:sp>
      <p:sp>
        <p:nvSpPr>
          <p:cNvPr id="223" name="Google Shape;223;p32"/>
          <p:cNvSpPr txBox="1">
            <a:spLocks noGrp="1"/>
          </p:cNvSpPr>
          <p:nvPr>
            <p:ph type="sldNum" idx="12"/>
          </p:nvPr>
        </p:nvSpPr>
        <p:spPr>
          <a:xfrm>
            <a:off x="6955491" y="476040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No. </a:t>
            </a: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224" name="Google Shape;224;p32"/>
          <p:cNvSpPr txBox="1"/>
          <p:nvPr/>
        </p:nvSpPr>
        <p:spPr>
          <a:xfrm>
            <a:off x="1040171" y="109252"/>
            <a:ext cx="7375800" cy="6297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Methodology</a:t>
            </a:r>
            <a:endParaRPr sz="3000" b="1">
              <a:solidFill>
                <a:srgbClr val="C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3"/>
          <p:cNvSpPr txBox="1">
            <a:spLocks noGrp="1"/>
          </p:cNvSpPr>
          <p:nvPr>
            <p:ph type="body" idx="1"/>
          </p:nvPr>
        </p:nvSpPr>
        <p:spPr>
          <a:xfrm>
            <a:off x="295569" y="790775"/>
            <a:ext cx="4705922" cy="3860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1" dirty="0"/>
              <a:t>Insertion Logic (Constant Time O(1))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/>
              <a:t>New issue Records are inserted sequentially using indexed arrays:</a:t>
            </a:r>
          </a:p>
          <a:p>
            <a:pPr marL="723900" marR="381000" indent="-228600">
              <a:lnSpc>
                <a:spcPct val="115000"/>
              </a:lnSpc>
              <a:spcBef>
                <a:spcPts val="1200"/>
              </a:spcBef>
              <a:buSzPts val="1800"/>
            </a:pPr>
            <a:r>
              <a:rPr lang="en-US" sz="1400" b="1" dirty="0" err="1"/>
              <a:t>IssueIndex</a:t>
            </a:r>
            <a:r>
              <a:rPr lang="en-US" sz="1400" b="1" dirty="0"/>
              <a:t> &lt;- </a:t>
            </a:r>
            <a:r>
              <a:rPr lang="en-US" sz="1400" b="1" dirty="0" err="1"/>
              <a:t>issue_count</a:t>
            </a:r>
            <a:endParaRPr lang="en-US" sz="1400" b="1" dirty="0"/>
          </a:p>
          <a:p>
            <a:pPr marL="723900" marR="381000" indent="-228600">
              <a:lnSpc>
                <a:spcPct val="115000"/>
              </a:lnSpc>
              <a:spcBef>
                <a:spcPts val="1200"/>
              </a:spcBef>
              <a:buSzPts val="1800"/>
            </a:pPr>
            <a:r>
              <a:rPr lang="en-US" sz="1400" b="1" dirty="0"/>
              <a:t>Store Book Number</a:t>
            </a:r>
          </a:p>
          <a:p>
            <a:pPr marL="723900" marR="381000" indent="-228600">
              <a:lnSpc>
                <a:spcPct val="115000"/>
              </a:lnSpc>
              <a:spcBef>
                <a:spcPts val="1200"/>
              </a:spcBef>
              <a:buSzPts val="1800"/>
            </a:pPr>
            <a:r>
              <a:rPr lang="en-US" sz="1400" b="1" dirty="0"/>
              <a:t>Store </a:t>
            </a:r>
            <a:r>
              <a:rPr lang="en-US" sz="1400" b="1" dirty="0" err="1"/>
              <a:t>StudentID</a:t>
            </a:r>
            <a:endParaRPr lang="en-US" sz="1400" b="1" dirty="0"/>
          </a:p>
          <a:p>
            <a:pPr marL="723900" marR="381000" indent="-228600">
              <a:lnSpc>
                <a:spcPct val="115000"/>
              </a:lnSpc>
              <a:spcBef>
                <a:spcPts val="1200"/>
              </a:spcBef>
              <a:buSzPts val="1800"/>
            </a:pPr>
            <a:r>
              <a:rPr lang="en-US" sz="1400" b="1" dirty="0"/>
              <a:t>Set Deadline </a:t>
            </a:r>
          </a:p>
          <a:p>
            <a:pPr marL="723900" marR="381000" indent="-228600">
              <a:lnSpc>
                <a:spcPct val="115000"/>
              </a:lnSpc>
              <a:spcBef>
                <a:spcPts val="1200"/>
              </a:spcBef>
              <a:buSzPts val="1800"/>
            </a:pPr>
            <a:r>
              <a:rPr lang="en-US" sz="1400" b="1" dirty="0"/>
              <a:t>Increment Total Issue Count</a:t>
            </a:r>
          </a:p>
          <a:p>
            <a:pPr marL="723900" marR="381000" indent="-228600">
              <a:lnSpc>
                <a:spcPct val="115000"/>
              </a:lnSpc>
              <a:spcBef>
                <a:spcPts val="1200"/>
              </a:spcBef>
              <a:buSzPts val="1800"/>
            </a:pPr>
            <a:r>
              <a:rPr lang="en-US" sz="1400" b="1" dirty="0"/>
              <a:t>Decrease Book stock</a:t>
            </a: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1400" b="1" dirty="0"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lang="en-US" sz="14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33"/>
          <p:cNvSpPr txBox="1">
            <a:spLocks noGrp="1"/>
          </p:cNvSpPr>
          <p:nvPr>
            <p:ph type="dt" idx="10"/>
          </p:nvPr>
        </p:nvSpPr>
        <p:spPr>
          <a:xfrm>
            <a:off x="131109" y="476040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/>
              <a:t>Monday, 19 January 2026</a:t>
            </a:r>
            <a:endParaRPr/>
          </a:p>
        </p:txBody>
      </p:sp>
      <p:sp>
        <p:nvSpPr>
          <p:cNvPr id="231" name="Google Shape;231;p33"/>
          <p:cNvSpPr txBox="1">
            <a:spLocks noGrp="1"/>
          </p:cNvSpPr>
          <p:nvPr>
            <p:ph type="sldNum" idx="12"/>
          </p:nvPr>
        </p:nvSpPr>
        <p:spPr>
          <a:xfrm>
            <a:off x="6955491" y="476040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No. </a:t>
            </a: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232" name="Google Shape;232;p33"/>
          <p:cNvSpPr txBox="1"/>
          <p:nvPr/>
        </p:nvSpPr>
        <p:spPr>
          <a:xfrm>
            <a:off x="1040171" y="109252"/>
            <a:ext cx="7375800" cy="6297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Methodology</a:t>
            </a:r>
            <a:endParaRPr sz="3000" b="1" dirty="0">
              <a:solidFill>
                <a:srgbClr val="C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699FDD-C94C-F9A5-1D40-18DF55DF273A}"/>
              </a:ext>
            </a:extLst>
          </p:cNvPr>
          <p:cNvSpPr txBox="1"/>
          <p:nvPr/>
        </p:nvSpPr>
        <p:spPr>
          <a:xfrm>
            <a:off x="5535993" y="738952"/>
            <a:ext cx="16325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Bookman Old Style" panose="02050604050505020204" pitchFamily="18" charset="0"/>
              </a:rPr>
              <a:t>Algorithm: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C42F299-DF90-CBB7-CECD-EEE9E8D61F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7120" y="1124821"/>
            <a:ext cx="3531311" cy="2354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4"/>
          <p:cNvSpPr txBox="1"/>
          <p:nvPr/>
        </p:nvSpPr>
        <p:spPr>
          <a:xfrm>
            <a:off x="2100263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>
              <a:spcAft>
                <a:spcPts val="600"/>
              </a:spcAft>
              <a:buClr>
                <a:schemeClr val="dk1"/>
              </a:buClr>
              <a:buSzPts val="1400"/>
            </a:pPr>
            <a:r>
              <a:rPr lang="en-US" sz="3600" b="1" dirty="0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Design and implementation</a:t>
            </a:r>
          </a:p>
          <a:p>
            <a:pPr marL="0" lvl="0" indent="0">
              <a:spcAft>
                <a:spcPts val="600"/>
              </a:spcAft>
              <a:buClr>
                <a:schemeClr val="dk1"/>
              </a:buClr>
              <a:buSzPts val="1400"/>
            </a:pPr>
            <a:endParaRPr lang="en-US" sz="3300" b="0" i="0" u="none" strike="noStrike" cap="none" dirty="0">
              <a:solidFill>
                <a:schemeClr val="dk1"/>
              </a:solidFill>
            </a:endParaRPr>
          </a:p>
        </p:txBody>
      </p:sp>
      <p:sp>
        <p:nvSpPr>
          <p:cNvPr id="238" name="Google Shape;238;p34"/>
          <p:cNvSpPr txBox="1">
            <a:spLocks noGrp="1"/>
          </p:cNvSpPr>
          <p:nvPr>
            <p:ph type="body" idx="1"/>
          </p:nvPr>
        </p:nvSpPr>
        <p:spPr>
          <a:xfrm>
            <a:off x="6222903" y="1268016"/>
            <a:ext cx="2789990" cy="3364706"/>
          </a:xfrm>
        </p:spPr>
        <p:txBody>
          <a:bodyPr spcFirstLastPara="1" lIns="68575" tIns="34275" rIns="68575" bIns="34275" anchor="t" anchorCtr="0"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600" dirty="0">
                <a:latin typeface="Bookman Old Style" panose="02050604050505020204" pitchFamily="18" charset="0"/>
              </a:rPr>
              <a:t>A high-level architectural overview of the 8086 Assembly–based Library Management System, illustrating the structured flow from User Input and Authentication through layered processing, in-memory array-based data management, and console output handling within real-mode system constraints.</a:t>
            </a:r>
          </a:p>
        </p:txBody>
      </p:sp>
      <p:sp>
        <p:nvSpPr>
          <p:cNvPr id="239" name="Google Shape;239;p34" hidden="1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Font typeface="Arial"/>
              <a:buNone/>
            </a:pPr>
            <a:r>
              <a:rPr lang="en"/>
              <a:t>Monday, 19 January 2026</a:t>
            </a:r>
            <a:endParaRPr lang="en-US"/>
          </a:p>
        </p:txBody>
      </p:sp>
      <p:sp>
        <p:nvSpPr>
          <p:cNvPr id="240" name="Google Shape;240;p34" hidden="1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"/>
              <a:t>Slide No. </a:t>
            </a: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600"/>
                </a:spcAft>
                <a:buNone/>
              </a:pPr>
              <a:t>10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4B9ACF-E219-D2EF-5B4A-1AE11F4419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107" y="884028"/>
            <a:ext cx="6091796" cy="39856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5"/>
          <p:cNvSpPr txBox="1">
            <a:spLocks noGrp="1"/>
          </p:cNvSpPr>
          <p:nvPr>
            <p:ph type="body" idx="1"/>
          </p:nvPr>
        </p:nvSpPr>
        <p:spPr>
          <a:xfrm>
            <a:off x="131110" y="943711"/>
            <a:ext cx="8881800" cy="36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fontScale="700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72" b="1" dirty="0"/>
              <a:t>Pointer Arithmetic &amp; Addressing</a:t>
            </a:r>
            <a:endParaRPr sz="1972" b="1" dirty="0"/>
          </a:p>
          <a:p>
            <a:pPr marL="457200" lvl="0" indent="-315825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●"/>
            </a:pPr>
            <a:r>
              <a:rPr lang="en" sz="1772" b="1" dirty="0"/>
              <a:t>Mechanism:</a:t>
            </a:r>
            <a:r>
              <a:rPr lang="en" sz="1772" dirty="0"/>
              <a:t> Uses </a:t>
            </a:r>
            <a:r>
              <a:rPr lang="en" sz="1772" b="1" dirty="0"/>
              <a:t>16 bit indexed </a:t>
            </a:r>
            <a:r>
              <a:rPr lang="en" sz="1772" dirty="0"/>
              <a:t>addressing to calculate record locations inside fixed-size-in memory array.</a:t>
            </a:r>
            <a:endParaRPr sz="1772" dirty="0"/>
          </a:p>
          <a:p>
            <a:pPr marL="457200" lvl="0" indent="-3158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●"/>
            </a:pPr>
            <a:r>
              <a:rPr lang="en" sz="1772" b="1" dirty="0"/>
              <a:t>Formula: </a:t>
            </a:r>
            <a:r>
              <a:rPr lang="en" sz="1772" dirty="0"/>
              <a:t>Address = Base + (Index x </a:t>
            </a:r>
            <a:r>
              <a:rPr lang="en" sz="1772" dirty="0" err="1"/>
              <a:t>RecordSize</a:t>
            </a:r>
            <a:r>
              <a:rPr lang="en" sz="1772" dirty="0"/>
              <a:t>)</a:t>
            </a:r>
            <a:endParaRPr sz="1772" dirty="0"/>
          </a:p>
          <a:p>
            <a:pPr marL="457200" lvl="0" indent="-3158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Bookman Old Style"/>
              <a:buChar char="●"/>
            </a:pPr>
            <a:r>
              <a:rPr lang="en" sz="1772" b="1" dirty="0"/>
              <a:t>Assembly Logic:</a:t>
            </a:r>
            <a:endParaRPr sz="1772" b="1" dirty="0"/>
          </a:p>
          <a:p>
            <a:pPr marL="914400" lvl="1" indent="-3158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Bookman Old Style"/>
              <a:buChar char="○"/>
            </a:pPr>
            <a:r>
              <a:rPr lang="en" sz="1772" dirty="0">
                <a:solidFill>
                  <a:srgbClr val="002060"/>
                </a:solidFill>
              </a:rPr>
              <a:t>MUL BX: Multiplies Index by record Size. Result stored in AX (offset)</a:t>
            </a:r>
            <a:endParaRPr sz="1772" dirty="0">
              <a:solidFill>
                <a:srgbClr val="002060"/>
              </a:solidFill>
            </a:endParaRPr>
          </a:p>
          <a:p>
            <a:pPr marL="914400" lvl="1" indent="-3158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Bookman Old Style"/>
              <a:buChar char="○"/>
            </a:pPr>
            <a:r>
              <a:rPr lang="en" sz="1772" dirty="0">
                <a:solidFill>
                  <a:srgbClr val="002060"/>
                </a:solidFill>
              </a:rPr>
              <a:t>LEA DI/LEA SI: Loads base address of array (</a:t>
            </a:r>
            <a:r>
              <a:rPr lang="en" sz="1772" dirty="0" err="1">
                <a:solidFill>
                  <a:srgbClr val="002060"/>
                </a:solidFill>
              </a:rPr>
              <a:t>student_ids</a:t>
            </a:r>
            <a:r>
              <a:rPr lang="en" sz="1772" dirty="0">
                <a:solidFill>
                  <a:srgbClr val="002060"/>
                </a:solidFill>
              </a:rPr>
              <a:t>, </a:t>
            </a:r>
            <a:r>
              <a:rPr lang="en" sz="1772" dirty="0" err="1">
                <a:solidFill>
                  <a:srgbClr val="002060"/>
                </a:solidFill>
              </a:rPr>
              <a:t>book_names</a:t>
            </a:r>
            <a:r>
              <a:rPr lang="en" sz="1772" dirty="0">
                <a:solidFill>
                  <a:srgbClr val="002060"/>
                </a:solidFill>
              </a:rPr>
              <a:t>, </a:t>
            </a:r>
            <a:r>
              <a:rPr lang="en" sz="1772" dirty="0" err="1">
                <a:solidFill>
                  <a:srgbClr val="002060"/>
                </a:solidFill>
              </a:rPr>
              <a:t>issue_userid</a:t>
            </a:r>
            <a:r>
              <a:rPr lang="en" sz="1772" dirty="0">
                <a:solidFill>
                  <a:srgbClr val="002060"/>
                </a:solidFill>
              </a:rPr>
              <a:t>, etc.)</a:t>
            </a:r>
            <a:endParaRPr sz="1772" dirty="0">
              <a:solidFill>
                <a:srgbClr val="002060"/>
              </a:solidFill>
            </a:endParaRPr>
          </a:p>
          <a:p>
            <a:pPr marL="914400" lvl="1" indent="-3158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Bookman Old Style"/>
              <a:buChar char="○"/>
            </a:pPr>
            <a:r>
              <a:rPr lang="en" sz="1772" dirty="0">
                <a:solidFill>
                  <a:srgbClr val="002060"/>
                </a:solidFill>
              </a:rPr>
              <a:t>ADD DI, AX: Adds computed offset to base address. Points to exact record in memory.</a:t>
            </a:r>
            <a:endParaRPr sz="1772" dirty="0">
              <a:solidFill>
                <a:srgbClr val="00206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972" b="1" dirty="0"/>
              <a:t>Duplicate Detection Logic (User ID)</a:t>
            </a:r>
            <a:endParaRPr sz="1972" b="1" dirty="0"/>
          </a:p>
          <a:p>
            <a:pPr marL="457200" lvl="0" indent="-31582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●"/>
            </a:pPr>
            <a:r>
              <a:rPr lang="en" sz="1772" b="1" dirty="0"/>
              <a:t>Goal:</a:t>
            </a:r>
            <a:r>
              <a:rPr lang="en" sz="1772" dirty="0"/>
              <a:t> Prevent duplicate user registration in the system </a:t>
            </a:r>
            <a:endParaRPr sz="1772" dirty="0"/>
          </a:p>
          <a:p>
            <a:pPr marL="457200" lvl="0" indent="-3158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Bookman Old Style"/>
              <a:buChar char="●"/>
            </a:pPr>
            <a:r>
              <a:rPr lang="en" sz="1772" b="1" dirty="0"/>
              <a:t>Process (Traversal-Based Search):</a:t>
            </a:r>
            <a:endParaRPr sz="1772" b="1" dirty="0"/>
          </a:p>
          <a:p>
            <a:pPr marL="914400" lvl="1" indent="-3158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AutoNum type="arabicPeriod"/>
            </a:pPr>
            <a:r>
              <a:rPr lang="en" sz="1772" b="1" dirty="0">
                <a:solidFill>
                  <a:srgbClr val="002060"/>
                </a:solidFill>
              </a:rPr>
              <a:t>Traverse: </a:t>
            </a:r>
            <a:r>
              <a:rPr lang="en" sz="1772" dirty="0">
                <a:solidFill>
                  <a:srgbClr val="002060"/>
                </a:solidFill>
              </a:rPr>
              <a:t>Compare entered User ID with existing </a:t>
            </a:r>
            <a:r>
              <a:rPr lang="en" sz="1772" dirty="0" err="1">
                <a:solidFill>
                  <a:srgbClr val="002060"/>
                </a:solidFill>
              </a:rPr>
              <a:t>student_ids</a:t>
            </a:r>
            <a:r>
              <a:rPr lang="en" sz="1772" dirty="0">
                <a:solidFill>
                  <a:srgbClr val="002060"/>
                </a:solidFill>
              </a:rPr>
              <a:t>.</a:t>
            </a:r>
            <a:endParaRPr sz="1772" dirty="0">
              <a:solidFill>
                <a:srgbClr val="002060"/>
              </a:solidFill>
            </a:endParaRPr>
          </a:p>
          <a:p>
            <a:pPr marL="914400" lvl="1" indent="-3158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AutoNum type="arabicPeriod"/>
            </a:pPr>
            <a:r>
              <a:rPr lang="en-US" sz="1772" b="1" dirty="0">
                <a:solidFill>
                  <a:srgbClr val="002060"/>
                </a:solidFill>
              </a:rPr>
              <a:t>Traverse Signup Request Queue:</a:t>
            </a:r>
            <a:r>
              <a:rPr lang="en-US" sz="1772" dirty="0">
                <a:solidFill>
                  <a:srgbClr val="002060"/>
                </a:solidFill>
              </a:rPr>
              <a:t> compare entered User ID with pending </a:t>
            </a:r>
            <a:r>
              <a:rPr lang="en-US" sz="1772" dirty="0" err="1">
                <a:solidFill>
                  <a:srgbClr val="002060"/>
                </a:solidFill>
              </a:rPr>
              <a:t>request_ids</a:t>
            </a:r>
            <a:r>
              <a:rPr lang="en-US" sz="1772" dirty="0">
                <a:solidFill>
                  <a:srgbClr val="002060"/>
                </a:solidFill>
              </a:rPr>
              <a:t>.</a:t>
            </a:r>
            <a:endParaRPr lang="en-US" sz="1472" dirty="0">
              <a:solidFill>
                <a:srgbClr val="002060"/>
              </a:solidFill>
            </a:endParaRPr>
          </a:p>
          <a:p>
            <a:pPr marL="914400" lvl="1" indent="-3158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Bookman Old Style"/>
              <a:buAutoNum type="arabicPeriod"/>
            </a:pPr>
            <a:r>
              <a:rPr lang="en" sz="1772" b="1" dirty="0">
                <a:solidFill>
                  <a:srgbClr val="002060"/>
                </a:solidFill>
              </a:rPr>
              <a:t>Decision Logic</a:t>
            </a:r>
            <a:endParaRPr sz="1772" b="1" dirty="0">
              <a:solidFill>
                <a:srgbClr val="002060"/>
              </a:solidFill>
            </a:endParaRPr>
          </a:p>
          <a:p>
            <a:pPr marL="1371600" lvl="2" indent="-3158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■"/>
            </a:pPr>
            <a:r>
              <a:rPr lang="en" sz="1772" b="1" dirty="0"/>
              <a:t>If Found: </a:t>
            </a:r>
            <a:r>
              <a:rPr lang="en" sz="1772" dirty="0"/>
              <a:t>Display “User ID Already Exists"</a:t>
            </a:r>
            <a:endParaRPr sz="1772" dirty="0"/>
          </a:p>
          <a:p>
            <a:pPr marL="1371600" lvl="2" indent="-3158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■"/>
            </a:pPr>
            <a:r>
              <a:rPr lang="en" sz="1772" b="1" dirty="0"/>
              <a:t>If Not Found: </a:t>
            </a:r>
            <a:r>
              <a:rPr lang="en" sz="1772" dirty="0"/>
              <a:t>Allow signup request</a:t>
            </a:r>
            <a:endParaRPr dirty="0"/>
          </a:p>
        </p:txBody>
      </p:sp>
      <p:sp>
        <p:nvSpPr>
          <p:cNvPr id="248" name="Google Shape;248;p35"/>
          <p:cNvSpPr txBox="1">
            <a:spLocks noGrp="1"/>
          </p:cNvSpPr>
          <p:nvPr>
            <p:ph type="dt" idx="10"/>
          </p:nvPr>
        </p:nvSpPr>
        <p:spPr>
          <a:xfrm>
            <a:off x="131109" y="476040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Monday, 19 January 2026</a:t>
            </a:r>
            <a:endParaRPr/>
          </a:p>
        </p:txBody>
      </p:sp>
      <p:sp>
        <p:nvSpPr>
          <p:cNvPr id="249" name="Google Shape;249;p35"/>
          <p:cNvSpPr txBox="1">
            <a:spLocks noGrp="1"/>
          </p:cNvSpPr>
          <p:nvPr>
            <p:ph type="sldNum" idx="12"/>
          </p:nvPr>
        </p:nvSpPr>
        <p:spPr>
          <a:xfrm>
            <a:off x="6955491" y="476040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No. </a:t>
            </a:r>
            <a:fld id="{00000000-1234-1234-1234-123412341234}" type="slidenum">
              <a:rPr lang="en"/>
              <a:t>11</a:t>
            </a:fld>
            <a:endParaRPr/>
          </a:p>
        </p:txBody>
      </p:sp>
      <p:sp>
        <p:nvSpPr>
          <p:cNvPr id="250" name="Google Shape;250;p35"/>
          <p:cNvSpPr txBox="1"/>
          <p:nvPr/>
        </p:nvSpPr>
        <p:spPr>
          <a:xfrm>
            <a:off x="1040171" y="109252"/>
            <a:ext cx="7375800" cy="6297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Design and Implementation</a:t>
            </a:r>
            <a:endParaRPr sz="3000" b="1">
              <a:solidFill>
                <a:srgbClr val="C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6"/>
          <p:cNvSpPr txBox="1">
            <a:spLocks noGrp="1"/>
          </p:cNvSpPr>
          <p:nvPr>
            <p:ph type="body" idx="1"/>
          </p:nvPr>
        </p:nvSpPr>
        <p:spPr>
          <a:xfrm>
            <a:off x="131110" y="943711"/>
            <a:ext cx="8881800" cy="36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fontScale="92500"/>
          </a:bodyPr>
          <a:lstStyle/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600" b="1" dirty="0"/>
              <a:t>Safety Mechanism: Controlled Loop Execution </a:t>
            </a:r>
            <a:endParaRPr sz="1600" b="1" dirty="0"/>
          </a:p>
          <a:p>
            <a:pPr marL="419100" indent="-285750">
              <a:lnSpc>
                <a:spcPct val="100000"/>
              </a:lnSpc>
              <a:spcBef>
                <a:spcPts val="1200"/>
              </a:spcBef>
              <a:buSzPts val="1500"/>
            </a:pPr>
            <a:r>
              <a:rPr lang="en" sz="1600" b="1" dirty="0"/>
              <a:t>Risk:</a:t>
            </a:r>
            <a:r>
              <a:rPr lang="en" sz="1600" dirty="0"/>
              <a:t> </a:t>
            </a:r>
            <a:r>
              <a:rPr lang="en-US" sz="1600" dirty="0"/>
              <a:t>Unbounded array traversal may cause memory corruption or unintended behavior </a:t>
            </a:r>
            <a:endParaRPr sz="1600" dirty="0"/>
          </a:p>
          <a:p>
            <a:pPr marL="419100" indent="-285750">
              <a:lnSpc>
                <a:spcPct val="100000"/>
              </a:lnSpc>
              <a:spcBef>
                <a:spcPts val="0"/>
              </a:spcBef>
              <a:buSzPts val="1500"/>
            </a:pPr>
            <a:r>
              <a:rPr lang="en" sz="1600" b="1" dirty="0"/>
              <a:t>Solution:</a:t>
            </a:r>
            <a:endParaRPr sz="1600" dirty="0"/>
          </a:p>
          <a:p>
            <a:pPr marL="91440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500"/>
              <a:buChar char="○"/>
            </a:pPr>
            <a:r>
              <a:rPr lang="en-US" sz="1600" dirty="0">
                <a:solidFill>
                  <a:srgbClr val="002060"/>
                </a:solidFill>
              </a:rPr>
              <a:t>All loops bounded using: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buChar char="○"/>
            </a:pPr>
            <a:r>
              <a:rPr lang="en-US" sz="1600" dirty="0" err="1"/>
              <a:t>issue_count</a:t>
            </a:r>
            <a:endParaRPr lang="en-US" sz="1600" dirty="0"/>
          </a:p>
          <a:p>
            <a:pPr lvl="2">
              <a:lnSpc>
                <a:spcPct val="100000"/>
              </a:lnSpc>
              <a:spcBef>
                <a:spcPts val="0"/>
              </a:spcBef>
              <a:buChar char="○"/>
            </a:pPr>
            <a:r>
              <a:rPr lang="en-US" sz="1600" dirty="0" err="1">
                <a:solidFill>
                  <a:srgbClr val="002060"/>
                </a:solidFill>
              </a:rPr>
              <a:t>student_count</a:t>
            </a:r>
            <a:endParaRPr lang="en-US" sz="1600" dirty="0">
              <a:solidFill>
                <a:srgbClr val="002060"/>
              </a:solidFill>
            </a:endParaRPr>
          </a:p>
          <a:p>
            <a:pPr lvl="2">
              <a:lnSpc>
                <a:spcPct val="100000"/>
              </a:lnSpc>
              <a:spcBef>
                <a:spcPts val="0"/>
              </a:spcBef>
              <a:buChar char="○"/>
            </a:pPr>
            <a:r>
              <a:rPr lang="en-US" sz="1600" dirty="0" err="1"/>
              <a:t>request_count</a:t>
            </a:r>
            <a:endParaRPr sz="1600" dirty="0">
              <a:solidFill>
                <a:srgbClr val="002060"/>
              </a:solidFill>
            </a:endParaRPr>
          </a:p>
          <a:p>
            <a:pPr marL="91440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500"/>
              <a:buFont typeface="Bookman Old Style"/>
              <a:buChar char="○"/>
            </a:pPr>
            <a:r>
              <a:rPr lang="en-US" sz="1600" dirty="0">
                <a:solidFill>
                  <a:srgbClr val="002060"/>
                </a:solidFill>
              </a:rPr>
              <a:t>Uses LOOP instruction with fixed counters</a:t>
            </a:r>
          </a:p>
          <a:p>
            <a:pPr marL="91440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500"/>
              <a:buFont typeface="Bookman Old Style"/>
              <a:buChar char="○"/>
            </a:pPr>
            <a:r>
              <a:rPr lang="en-US" sz="1600" dirty="0">
                <a:solidFill>
                  <a:srgbClr val="002060"/>
                </a:solidFill>
              </a:rPr>
              <a:t>No dynamic memory allocation </a:t>
            </a:r>
          </a:p>
          <a:p>
            <a:pPr marL="91440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500"/>
              <a:buFont typeface="Bookman Old Style"/>
              <a:buChar char="○"/>
            </a:pPr>
            <a:r>
              <a:rPr lang="en-US" sz="1600" dirty="0">
                <a:solidFill>
                  <a:srgbClr val="002060"/>
                </a:solidFill>
              </a:rPr>
              <a:t>No pointer-based traversal</a:t>
            </a:r>
          </a:p>
          <a:p>
            <a:pPr marL="419100" indent="-285750">
              <a:lnSpc>
                <a:spcPct val="100000"/>
              </a:lnSpc>
              <a:spcBef>
                <a:spcPts val="0"/>
              </a:spcBef>
              <a:buSzPts val="1500"/>
            </a:pPr>
            <a:r>
              <a:rPr lang="en-US" sz="1600" b="1" dirty="0"/>
              <a:t>Solution:</a:t>
            </a:r>
          </a:p>
          <a:p>
            <a:pPr marL="876300" lvl="1" indent="-285750">
              <a:lnSpc>
                <a:spcPct val="100000"/>
              </a:lnSpc>
              <a:spcBef>
                <a:spcPts val="0"/>
              </a:spcBef>
              <a:buSzPts val="1500"/>
            </a:pPr>
            <a:r>
              <a:rPr lang="en-US" sz="1600" dirty="0">
                <a:solidFill>
                  <a:srgbClr val="002060"/>
                </a:solidFill>
              </a:rPr>
              <a:t>Prevents infinite loops </a:t>
            </a:r>
          </a:p>
          <a:p>
            <a:pPr marL="876300" lvl="1" indent="-285750">
              <a:lnSpc>
                <a:spcPct val="100000"/>
              </a:lnSpc>
              <a:spcBef>
                <a:spcPts val="0"/>
              </a:spcBef>
              <a:buSzPts val="1500"/>
            </a:pPr>
            <a:r>
              <a:rPr lang="en-US" sz="1600" dirty="0">
                <a:solidFill>
                  <a:srgbClr val="002060"/>
                </a:solidFill>
              </a:rPr>
              <a:t>Prevents out-of-bounds access</a:t>
            </a:r>
          </a:p>
          <a:p>
            <a:pPr marL="876300" lvl="1" indent="-285750">
              <a:lnSpc>
                <a:spcPct val="100000"/>
              </a:lnSpc>
              <a:spcBef>
                <a:spcPts val="0"/>
              </a:spcBef>
              <a:buSzPts val="1500"/>
            </a:pPr>
            <a:r>
              <a:rPr lang="en-US" sz="1600" dirty="0">
                <a:solidFill>
                  <a:srgbClr val="002060"/>
                </a:solidFill>
              </a:rPr>
              <a:t>Ensures stable execution within 64KB memory model</a:t>
            </a:r>
          </a:p>
          <a:p>
            <a:pPr marL="419100" indent="-285750">
              <a:lnSpc>
                <a:spcPct val="100000"/>
              </a:lnSpc>
              <a:spcBef>
                <a:spcPts val="0"/>
              </a:spcBef>
              <a:buSzPts val="1500"/>
            </a:pPr>
            <a:endParaRPr lang="en-US" sz="1600" dirty="0">
              <a:solidFill>
                <a:srgbClr val="002060"/>
              </a:solidFill>
            </a:endParaRPr>
          </a:p>
          <a:p>
            <a:pPr marL="133350" indent="0">
              <a:lnSpc>
                <a:spcPct val="100000"/>
              </a:lnSpc>
              <a:spcBef>
                <a:spcPts val="0"/>
              </a:spcBef>
              <a:buSzPts val="1500"/>
              <a:buNone/>
            </a:pPr>
            <a:endParaRPr sz="1600" dirty="0">
              <a:solidFill>
                <a:srgbClr val="002060"/>
              </a:solidFill>
            </a:endParaRPr>
          </a:p>
          <a:p>
            <a:pPr marL="17780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 dirty="0"/>
          </a:p>
        </p:txBody>
      </p:sp>
      <p:sp>
        <p:nvSpPr>
          <p:cNvPr id="256" name="Google Shape;256;p36"/>
          <p:cNvSpPr txBox="1">
            <a:spLocks noGrp="1"/>
          </p:cNvSpPr>
          <p:nvPr>
            <p:ph type="dt" idx="10"/>
          </p:nvPr>
        </p:nvSpPr>
        <p:spPr>
          <a:xfrm>
            <a:off x="131109" y="476040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Monday, 19 January 2026</a:t>
            </a:r>
            <a:endParaRPr/>
          </a:p>
        </p:txBody>
      </p:sp>
      <p:sp>
        <p:nvSpPr>
          <p:cNvPr id="257" name="Google Shape;257;p36"/>
          <p:cNvSpPr txBox="1">
            <a:spLocks noGrp="1"/>
          </p:cNvSpPr>
          <p:nvPr>
            <p:ph type="sldNum" idx="12"/>
          </p:nvPr>
        </p:nvSpPr>
        <p:spPr>
          <a:xfrm>
            <a:off x="6955491" y="476040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No. </a:t>
            </a:r>
            <a:fld id="{00000000-1234-1234-1234-123412341234}" type="slidenum">
              <a:rPr lang="en"/>
              <a:t>12</a:t>
            </a:fld>
            <a:endParaRPr/>
          </a:p>
        </p:txBody>
      </p:sp>
      <p:sp>
        <p:nvSpPr>
          <p:cNvPr id="258" name="Google Shape;258;p36"/>
          <p:cNvSpPr txBox="1"/>
          <p:nvPr/>
        </p:nvSpPr>
        <p:spPr>
          <a:xfrm>
            <a:off x="1040171" y="109252"/>
            <a:ext cx="7375800" cy="6297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Design and Implementation</a:t>
            </a:r>
            <a:endParaRPr sz="3000" b="1">
              <a:solidFill>
                <a:srgbClr val="C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7"/>
          <p:cNvSpPr txBox="1">
            <a:spLocks noGrp="1"/>
          </p:cNvSpPr>
          <p:nvPr>
            <p:ph type="body" idx="1"/>
          </p:nvPr>
        </p:nvSpPr>
        <p:spPr>
          <a:xfrm>
            <a:off x="79062" y="905128"/>
            <a:ext cx="8881800" cy="36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 b="1" dirty="0"/>
              <a:t>Data Storage &amp; Output Strategy</a:t>
            </a: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 b="1" dirty="0"/>
              <a:t>Data Representation:</a:t>
            </a:r>
          </a:p>
          <a:p>
            <a:pPr marL="457200" lvl="0" indent="-3365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2060"/>
              </a:buClr>
              <a:buSzPts val="1700"/>
              <a:buAutoNum type="arabicPeriod"/>
            </a:pPr>
            <a:r>
              <a:rPr lang="en-US" sz="1500" b="1" dirty="0"/>
              <a:t>Student Records: </a:t>
            </a:r>
            <a:r>
              <a:rPr lang="en-US" sz="1500" dirty="0"/>
              <a:t>Fixed-size ID, password (XOR, encrypted), name, status</a:t>
            </a:r>
          </a:p>
          <a:p>
            <a:pPr marL="457200" lvl="0" indent="-3365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2060"/>
              </a:buClr>
              <a:buSzPts val="1700"/>
              <a:buAutoNum type="arabicPeriod"/>
            </a:pPr>
            <a:r>
              <a:rPr lang="en-US" sz="1500" b="1" dirty="0"/>
              <a:t>Book Records: </a:t>
            </a:r>
            <a:r>
              <a:rPr lang="en-US" sz="1500" dirty="0"/>
              <a:t>Title, stock count, maximum limit</a:t>
            </a:r>
            <a:endParaRPr lang="en-US" sz="1500" b="1" dirty="0"/>
          </a:p>
          <a:p>
            <a:pPr marL="457200" lvl="0" indent="-3365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2060"/>
              </a:buClr>
              <a:buSzPts val="1700"/>
              <a:buAutoNum type="arabicPeriod"/>
            </a:pPr>
            <a:r>
              <a:rPr lang="en-US" sz="1500" b="1" dirty="0"/>
              <a:t>Issue Records: </a:t>
            </a:r>
            <a:r>
              <a:rPr lang="en-US" sz="1500" dirty="0"/>
              <a:t>Book index, User ID (5bytes), Days remaining.</a:t>
            </a: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 b="1" dirty="0"/>
              <a:t>Key Conversion Algorithms:</a:t>
            </a:r>
          </a:p>
          <a:p>
            <a:pPr marL="457200" lvl="0" indent="-3365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2060"/>
              </a:buClr>
              <a:buSzPts val="1700"/>
              <a:buChar char="●"/>
            </a:pPr>
            <a:r>
              <a:rPr lang="en-US" sz="1500" b="1" dirty="0"/>
              <a:t>Numeric to ASCII:</a:t>
            </a:r>
          </a:p>
          <a:p>
            <a:pPr lvl="1" indent="-336550">
              <a:lnSpc>
                <a:spcPct val="100000"/>
              </a:lnSpc>
              <a:spcBef>
                <a:spcPts val="1200"/>
              </a:spcBef>
              <a:buClr>
                <a:srgbClr val="002060"/>
              </a:buClr>
              <a:buSzPts val="1700"/>
              <a:buChar char="●"/>
            </a:pPr>
            <a:r>
              <a:rPr lang="en-US" sz="1500" dirty="0">
                <a:solidFill>
                  <a:srgbClr val="002060"/>
                </a:solidFill>
              </a:rPr>
              <a:t>ADD AL, ‘0’ for digit conversion</a:t>
            </a:r>
          </a:p>
          <a:p>
            <a:pPr lvl="1" indent="-336550">
              <a:lnSpc>
                <a:spcPct val="100000"/>
              </a:lnSpc>
              <a:spcBef>
                <a:spcPts val="1200"/>
              </a:spcBef>
              <a:buClr>
                <a:srgbClr val="002060"/>
              </a:buClr>
              <a:buSzPts val="1700"/>
              <a:buChar char="●"/>
            </a:pPr>
            <a:r>
              <a:rPr lang="en-US" sz="1500" dirty="0">
                <a:solidFill>
                  <a:srgbClr val="002060"/>
                </a:solidFill>
              </a:rPr>
              <a:t>DIV 10 for two digit display</a:t>
            </a:r>
          </a:p>
          <a:p>
            <a:pPr marL="45720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700"/>
              <a:buFont typeface="Bookman Old Style"/>
              <a:buChar char="●"/>
            </a:pPr>
            <a:r>
              <a:rPr lang="en-US" sz="1500" b="1" dirty="0"/>
              <a:t>Output Handling:</a:t>
            </a:r>
          </a:p>
          <a:p>
            <a:pPr lvl="1" indent="-336550">
              <a:lnSpc>
                <a:spcPct val="100000"/>
              </a:lnSpc>
              <a:spcBef>
                <a:spcPts val="0"/>
              </a:spcBef>
              <a:buClr>
                <a:srgbClr val="002060"/>
              </a:buClr>
              <a:buSzPts val="1700"/>
              <a:buFont typeface="Bookman Old Style"/>
              <a:buChar char="●"/>
            </a:pPr>
            <a:r>
              <a:rPr lang="en-US" sz="1500" dirty="0">
                <a:solidFill>
                  <a:srgbClr val="002060"/>
                </a:solidFill>
              </a:rPr>
              <a:t>DOS INT 21H services</a:t>
            </a:r>
          </a:p>
          <a:p>
            <a:pPr lvl="1" indent="-336550">
              <a:lnSpc>
                <a:spcPct val="100000"/>
              </a:lnSpc>
              <a:spcBef>
                <a:spcPts val="0"/>
              </a:spcBef>
              <a:buClr>
                <a:srgbClr val="002060"/>
              </a:buClr>
              <a:buSzPts val="1700"/>
              <a:buFont typeface="Bookman Old Style"/>
              <a:buChar char="●"/>
            </a:pPr>
            <a:r>
              <a:rPr lang="en-US" sz="1500" dirty="0">
                <a:solidFill>
                  <a:srgbClr val="002060"/>
                </a:solidFill>
              </a:rPr>
              <a:t>Tabular console formatting with space padding</a:t>
            </a:r>
          </a:p>
        </p:txBody>
      </p:sp>
      <p:sp>
        <p:nvSpPr>
          <p:cNvPr id="265" name="Google Shape;265;p37"/>
          <p:cNvSpPr txBox="1">
            <a:spLocks noGrp="1"/>
          </p:cNvSpPr>
          <p:nvPr>
            <p:ph type="dt" idx="10"/>
          </p:nvPr>
        </p:nvSpPr>
        <p:spPr>
          <a:xfrm>
            <a:off x="131109" y="476040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Monday, 19 January 2026</a:t>
            </a:r>
            <a:endParaRPr/>
          </a:p>
        </p:txBody>
      </p:sp>
      <p:sp>
        <p:nvSpPr>
          <p:cNvPr id="266" name="Google Shape;266;p37"/>
          <p:cNvSpPr txBox="1">
            <a:spLocks noGrp="1"/>
          </p:cNvSpPr>
          <p:nvPr>
            <p:ph type="sldNum" idx="12"/>
          </p:nvPr>
        </p:nvSpPr>
        <p:spPr>
          <a:xfrm>
            <a:off x="6955491" y="476040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No. </a:t>
            </a:r>
            <a:fld id="{00000000-1234-1234-1234-123412341234}" type="slidenum">
              <a:rPr lang="en"/>
              <a:t>13</a:t>
            </a:fld>
            <a:endParaRPr/>
          </a:p>
        </p:txBody>
      </p:sp>
      <p:sp>
        <p:nvSpPr>
          <p:cNvPr id="267" name="Google Shape;267;p37"/>
          <p:cNvSpPr txBox="1"/>
          <p:nvPr/>
        </p:nvSpPr>
        <p:spPr>
          <a:xfrm>
            <a:off x="1040171" y="109252"/>
            <a:ext cx="7375800" cy="6297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Design and Implementation</a:t>
            </a:r>
            <a:endParaRPr sz="3000" b="1">
              <a:solidFill>
                <a:srgbClr val="C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8"/>
          <p:cNvSpPr txBox="1">
            <a:spLocks noGrp="1"/>
          </p:cNvSpPr>
          <p:nvPr>
            <p:ph type="body" idx="1"/>
          </p:nvPr>
        </p:nvSpPr>
        <p:spPr>
          <a:xfrm>
            <a:off x="131110" y="943711"/>
            <a:ext cx="8881781" cy="2419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400" b="1" dirty="0">
                <a:latin typeface="Bookman Old Style" panose="02050604050505020204" pitchFamily="18" charset="0"/>
              </a:rPr>
              <a:t>Helper Procedures</a:t>
            </a:r>
          </a:p>
          <a:p>
            <a:pPr marL="400050" indent="-285750">
              <a:lnSpc>
                <a:spcPct val="100000"/>
              </a:lnSpc>
              <a:spcBef>
                <a:spcPts val="1200"/>
              </a:spcBef>
              <a:buSzPts val="1800"/>
            </a:pPr>
            <a:r>
              <a:rPr lang="en-US" sz="1400" dirty="0" err="1">
                <a:latin typeface="Bookman Old Style" panose="02050604050505020204" pitchFamily="18" charset="0"/>
              </a:rPr>
              <a:t>encrypt_password</a:t>
            </a:r>
            <a:r>
              <a:rPr lang="en-US" sz="1400" dirty="0">
                <a:latin typeface="Bookman Old Style" panose="02050604050505020204" pitchFamily="18" charset="0"/>
              </a:rPr>
              <a:t>: Applies XOR-based encryption to user passwords</a:t>
            </a:r>
          </a:p>
          <a:p>
            <a:pPr marL="400050" indent="-285750">
              <a:lnSpc>
                <a:spcPct val="100000"/>
              </a:lnSpc>
              <a:spcBef>
                <a:spcPts val="1200"/>
              </a:spcBef>
              <a:buSzPts val="1800"/>
            </a:pPr>
            <a:r>
              <a:rPr lang="en-US" sz="1400" dirty="0" err="1">
                <a:latin typeface="Bookman Old Style" panose="02050604050505020204" pitchFamily="18" charset="0"/>
              </a:rPr>
              <a:t>check_uid_exists</a:t>
            </a:r>
            <a:r>
              <a:rPr lang="en-US" sz="1400" dirty="0">
                <a:latin typeface="Bookman Old Style" panose="02050604050505020204" pitchFamily="18" charset="0"/>
              </a:rPr>
              <a:t>: Traverses student database to detect duplicate User IDs</a:t>
            </a:r>
          </a:p>
          <a:p>
            <a:pPr marL="400050" indent="-285750">
              <a:lnSpc>
                <a:spcPct val="100000"/>
              </a:lnSpc>
              <a:spcBef>
                <a:spcPts val="1200"/>
              </a:spcBef>
              <a:buSzPts val="1800"/>
            </a:pPr>
            <a:r>
              <a:rPr lang="en-US" sz="1400" dirty="0" err="1">
                <a:latin typeface="Bookman Old Style" panose="02050604050505020204" pitchFamily="18" charset="0"/>
              </a:rPr>
              <a:t>show_digit</a:t>
            </a:r>
            <a:r>
              <a:rPr lang="en-US" sz="1400" dirty="0">
                <a:latin typeface="Bookman Old Style" panose="02050604050505020204" pitchFamily="18" charset="0"/>
              </a:rPr>
              <a:t>: Convers numeric value to ASCII using DIV 10 and prints via DOS</a:t>
            </a:r>
          </a:p>
          <a:p>
            <a:pPr marL="95250" indent="0">
              <a:lnSpc>
                <a:spcPct val="100000"/>
              </a:lnSpc>
              <a:buNone/>
            </a:pPr>
            <a:r>
              <a:rPr lang="en-US" sz="1400" b="1" dirty="0">
                <a:latin typeface="Bookman Old Style" panose="02050604050505020204" pitchFamily="18" charset="0"/>
                <a:ea typeface="Arial"/>
                <a:cs typeface="Arial"/>
                <a:sym typeface="Arial"/>
              </a:rPr>
              <a:t>System Output Handling</a:t>
            </a:r>
          </a:p>
          <a:p>
            <a:pPr>
              <a:lnSpc>
                <a:spcPct val="100000"/>
              </a:lnSpc>
            </a:pPr>
            <a:r>
              <a:rPr lang="en-US" sz="1400" dirty="0">
                <a:latin typeface="Bookman Old Style" panose="02050604050505020204" pitchFamily="18" charset="0"/>
                <a:ea typeface="Arial"/>
                <a:cs typeface="Arial"/>
                <a:sym typeface="Arial"/>
              </a:rPr>
              <a:t>Uses </a:t>
            </a:r>
            <a:r>
              <a:rPr lang="en-US" sz="1400" b="1" dirty="0">
                <a:latin typeface="Bookman Old Style" panose="02050604050505020204" pitchFamily="18" charset="0"/>
                <a:ea typeface="Arial"/>
                <a:cs typeface="Arial"/>
                <a:sym typeface="Arial"/>
              </a:rPr>
              <a:t>DOS INT 21H </a:t>
            </a:r>
            <a:r>
              <a:rPr lang="en-US" sz="1400" dirty="0">
                <a:latin typeface="Bookman Old Style" panose="02050604050505020204" pitchFamily="18" charset="0"/>
                <a:ea typeface="Arial"/>
                <a:cs typeface="Arial"/>
                <a:sym typeface="Arial"/>
              </a:rPr>
              <a:t>for console display </a:t>
            </a:r>
          </a:p>
          <a:p>
            <a:pPr>
              <a:lnSpc>
                <a:spcPct val="100000"/>
              </a:lnSpc>
            </a:pPr>
            <a:r>
              <a:rPr lang="en-US" sz="1400" dirty="0">
                <a:latin typeface="Bookman Old Style" panose="02050604050505020204" pitchFamily="18" charset="0"/>
                <a:ea typeface="Arial"/>
                <a:cs typeface="Arial"/>
                <a:sym typeface="Arial"/>
              </a:rPr>
              <a:t>Prints formatted tabular data for:</a:t>
            </a:r>
          </a:p>
          <a:p>
            <a:pPr lvl="1">
              <a:lnSpc>
                <a:spcPct val="100000"/>
              </a:lnSpc>
            </a:pPr>
            <a:r>
              <a:rPr lang="en-US" sz="1400" dirty="0">
                <a:latin typeface="Bookman Old Style" panose="02050604050505020204" pitchFamily="18" charset="0"/>
                <a:ea typeface="Arial"/>
                <a:cs typeface="Arial"/>
                <a:sym typeface="Arial"/>
              </a:rPr>
              <a:t>Books </a:t>
            </a:r>
          </a:p>
          <a:p>
            <a:pPr lvl="1">
              <a:lnSpc>
                <a:spcPct val="100000"/>
              </a:lnSpc>
            </a:pPr>
            <a:r>
              <a:rPr lang="en-US" sz="1400" dirty="0">
                <a:latin typeface="Bookman Old Style" panose="02050604050505020204" pitchFamily="18" charset="0"/>
                <a:ea typeface="Arial"/>
                <a:cs typeface="Arial"/>
                <a:sym typeface="Arial"/>
              </a:rPr>
              <a:t>Students </a:t>
            </a:r>
          </a:p>
          <a:p>
            <a:pPr lvl="1">
              <a:lnSpc>
                <a:spcPct val="100000"/>
              </a:lnSpc>
            </a:pPr>
            <a:r>
              <a:rPr lang="en-US" sz="1400" dirty="0">
                <a:latin typeface="Bookman Old Style" panose="02050604050505020204" pitchFamily="18" charset="0"/>
                <a:ea typeface="Arial"/>
                <a:cs typeface="Arial"/>
                <a:sym typeface="Arial"/>
              </a:rPr>
              <a:t>Issued records</a:t>
            </a:r>
          </a:p>
          <a:p>
            <a:pPr lvl="2">
              <a:lnSpc>
                <a:spcPct val="100000"/>
              </a:lnSpc>
            </a:pPr>
            <a:r>
              <a:rPr lang="en-US" sz="1400" dirty="0">
                <a:latin typeface="Bookman Old Style" panose="02050604050505020204" pitchFamily="18" charset="0"/>
                <a:ea typeface="Arial"/>
                <a:cs typeface="Arial"/>
                <a:sym typeface="Arial"/>
              </a:rPr>
              <a:t>Handles fixed-length string printing with manual spacing </a:t>
            </a:r>
          </a:p>
          <a:p>
            <a:pPr lvl="2">
              <a:lnSpc>
                <a:spcPct val="100000"/>
              </a:lnSpc>
            </a:pPr>
            <a:r>
              <a:rPr lang="en-US" sz="1400" dirty="0">
                <a:latin typeface="Bookman Old Style" panose="02050604050505020204" pitchFamily="18" charset="0"/>
                <a:ea typeface="Arial"/>
                <a:cs typeface="Arial"/>
                <a:sym typeface="Arial"/>
              </a:rPr>
              <a:t>Displays numeric values using ASCII conversion</a:t>
            </a: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sz="1400" b="1" dirty="0">
              <a:latin typeface="Bookman Old Style" panose="02050604050505020204" pitchFamily="18" charset="0"/>
            </a:endParaRPr>
          </a:p>
          <a:p>
            <a:pPr marL="1778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sz="1400" dirty="0">
              <a:latin typeface="Bookman Old Style" panose="02050604050505020204" pitchFamily="18" charset="0"/>
            </a:endParaRPr>
          </a:p>
        </p:txBody>
      </p:sp>
      <p:sp>
        <p:nvSpPr>
          <p:cNvPr id="274" name="Google Shape;274;p38"/>
          <p:cNvSpPr txBox="1">
            <a:spLocks noGrp="1"/>
          </p:cNvSpPr>
          <p:nvPr>
            <p:ph type="dt" idx="10"/>
          </p:nvPr>
        </p:nvSpPr>
        <p:spPr>
          <a:xfrm>
            <a:off x="131109" y="476040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Monday, 19 January 2026</a:t>
            </a:r>
            <a:endParaRPr/>
          </a:p>
        </p:txBody>
      </p:sp>
      <p:sp>
        <p:nvSpPr>
          <p:cNvPr id="275" name="Google Shape;275;p38"/>
          <p:cNvSpPr txBox="1">
            <a:spLocks noGrp="1"/>
          </p:cNvSpPr>
          <p:nvPr>
            <p:ph type="sldNum" idx="12"/>
          </p:nvPr>
        </p:nvSpPr>
        <p:spPr>
          <a:xfrm>
            <a:off x="6955491" y="476040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No. </a:t>
            </a:r>
            <a:fld id="{00000000-1234-1234-1234-123412341234}" type="slidenum">
              <a:rPr lang="en"/>
              <a:t>14</a:t>
            </a:fld>
            <a:endParaRPr/>
          </a:p>
        </p:txBody>
      </p:sp>
      <p:sp>
        <p:nvSpPr>
          <p:cNvPr id="276" name="Google Shape;276;p38"/>
          <p:cNvSpPr txBox="1"/>
          <p:nvPr/>
        </p:nvSpPr>
        <p:spPr>
          <a:xfrm>
            <a:off x="1040171" y="109252"/>
            <a:ext cx="7375800" cy="6297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Design and Implementation</a:t>
            </a:r>
            <a:endParaRPr sz="3000" b="1">
              <a:solidFill>
                <a:srgbClr val="C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9"/>
          <p:cNvSpPr txBox="1">
            <a:spLocks noGrp="1"/>
          </p:cNvSpPr>
          <p:nvPr>
            <p:ph type="body" idx="1"/>
          </p:nvPr>
        </p:nvSpPr>
        <p:spPr>
          <a:xfrm>
            <a:off x="131108" y="838200"/>
            <a:ext cx="8881783" cy="3922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dirty="0"/>
              <a:t>System Performance Metrics</a:t>
            </a:r>
            <a:endParaRPr sz="1800" b="1" dirty="0"/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1" dirty="0"/>
              <a:t>Computational Complexity</a:t>
            </a:r>
            <a:endParaRPr sz="1600" b="1" dirty="0"/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2060"/>
              </a:buClr>
              <a:buSzPts val="1600"/>
              <a:buChar char="●"/>
            </a:pPr>
            <a:r>
              <a:rPr lang="en" sz="1600" b="1" dirty="0"/>
              <a:t>Insertion:</a:t>
            </a:r>
            <a:r>
              <a:rPr lang="en" sz="1600" dirty="0"/>
              <a:t> O(1) (Direct index-based array insertion using </a:t>
            </a:r>
            <a:r>
              <a:rPr lang="en" sz="1600" dirty="0" err="1"/>
              <a:t>issue_count</a:t>
            </a:r>
            <a:r>
              <a:rPr lang="en" sz="1600" dirty="0"/>
              <a:t>)</a:t>
            </a:r>
            <a:endParaRPr sz="1600" dirty="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600"/>
              <a:buChar char="●"/>
            </a:pPr>
            <a:r>
              <a:rPr lang="en" sz="1600" b="1" dirty="0"/>
              <a:t>Search/Duplicate Check (User ID):</a:t>
            </a:r>
            <a:r>
              <a:rPr lang="en" sz="1600" dirty="0"/>
              <a:t> O(N) (Linear traversal of student array)</a:t>
            </a:r>
            <a:endParaRPr sz="1600" dirty="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600"/>
              <a:buChar char="●"/>
            </a:pPr>
            <a:r>
              <a:rPr lang="en" sz="1600" b="1" dirty="0"/>
              <a:t>Return/Record Deletion: </a:t>
            </a:r>
            <a:r>
              <a:rPr lang="en" sz="1600" dirty="0"/>
              <a:t>O(N) (Linear Search + element shifting in issue array)</a:t>
            </a: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600"/>
              <a:buChar char="●"/>
            </a:pPr>
            <a:r>
              <a:rPr lang="en" sz="1600" b="1" dirty="0"/>
              <a:t>Book Display/Reports: </a:t>
            </a:r>
            <a:r>
              <a:rPr lang="en" sz="1600" dirty="0"/>
              <a:t>O(N) (Sequential array traversal)</a:t>
            </a:r>
            <a:endParaRPr sz="1600" b="1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1" dirty="0"/>
              <a:t>Memory Efficiency</a:t>
            </a:r>
            <a:endParaRPr sz="1600" b="1" dirty="0"/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2060"/>
              </a:buClr>
              <a:buSzPts val="1600"/>
              <a:buChar char="●"/>
            </a:pPr>
            <a:r>
              <a:rPr lang="en-US" sz="1600" b="1" dirty="0"/>
              <a:t>Storage Model: </a:t>
            </a:r>
            <a:r>
              <a:rPr lang="en-US" sz="1600" dirty="0"/>
              <a:t>Fixed-size in memory arrays (No dynamic allocation)</a:t>
            </a: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2060"/>
              </a:buClr>
              <a:buSzPts val="1600"/>
              <a:buChar char="●"/>
            </a:pPr>
            <a:r>
              <a:rPr lang="en-US" sz="1600" b="1" dirty="0"/>
              <a:t>Data Segment Limit: </a:t>
            </a:r>
            <a:r>
              <a:rPr lang="en-US" sz="1600" dirty="0"/>
              <a:t>Fully operates within 64KB real-mode segment</a:t>
            </a: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2060"/>
              </a:buClr>
              <a:buSzPts val="1600"/>
              <a:buChar char="●"/>
            </a:pPr>
            <a:r>
              <a:rPr lang="en-US" sz="1600" b="1" dirty="0"/>
              <a:t>Compact Issue Records: </a:t>
            </a:r>
            <a:r>
              <a:rPr lang="en-US" sz="1600" dirty="0"/>
              <a:t>7 bytes per logical issue entry (parallel array model).</a:t>
            </a:r>
            <a:endParaRPr lang="en-US" sz="1600" b="1" dirty="0"/>
          </a:p>
          <a:p>
            <a:pPr marL="17780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3" name="Google Shape;283;p39"/>
          <p:cNvSpPr txBox="1">
            <a:spLocks noGrp="1"/>
          </p:cNvSpPr>
          <p:nvPr>
            <p:ph type="dt" idx="10"/>
          </p:nvPr>
        </p:nvSpPr>
        <p:spPr>
          <a:xfrm>
            <a:off x="131109" y="476040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/>
              <a:t>Monday, 19 January 2026</a:t>
            </a:r>
            <a:endParaRPr/>
          </a:p>
        </p:txBody>
      </p:sp>
      <p:sp>
        <p:nvSpPr>
          <p:cNvPr id="284" name="Google Shape;284;p39"/>
          <p:cNvSpPr txBox="1">
            <a:spLocks noGrp="1"/>
          </p:cNvSpPr>
          <p:nvPr>
            <p:ph type="sldNum" idx="12"/>
          </p:nvPr>
        </p:nvSpPr>
        <p:spPr>
          <a:xfrm>
            <a:off x="6955491" y="476040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sp>
        <p:nvSpPr>
          <p:cNvPr id="285" name="Google Shape;285;p39"/>
          <p:cNvSpPr txBox="1"/>
          <p:nvPr/>
        </p:nvSpPr>
        <p:spPr>
          <a:xfrm>
            <a:off x="1713271" y="109252"/>
            <a:ext cx="6109928" cy="629551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Results/Simulation</a:t>
            </a:r>
            <a:endParaRPr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3"/>
          <p:cNvSpPr txBox="1">
            <a:spLocks noGrp="1"/>
          </p:cNvSpPr>
          <p:nvPr>
            <p:ph type="body" idx="1"/>
          </p:nvPr>
        </p:nvSpPr>
        <p:spPr>
          <a:xfrm>
            <a:off x="131110" y="943711"/>
            <a:ext cx="8881800" cy="36891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ctr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b="1" dirty="0"/>
              <a:t>emu8086 Environment</a:t>
            </a:r>
            <a:endParaRPr b="1" dirty="0"/>
          </a:p>
        </p:txBody>
      </p:sp>
      <p:sp>
        <p:nvSpPr>
          <p:cNvPr id="320" name="Google Shape;320;p43"/>
          <p:cNvSpPr txBox="1"/>
          <p:nvPr/>
        </p:nvSpPr>
        <p:spPr>
          <a:xfrm>
            <a:off x="1393850" y="215950"/>
            <a:ext cx="6800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Results/Simulation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2C85DCD-F075-A32F-D4F7-DA2B6669A1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090" y="1505858"/>
            <a:ext cx="4780539" cy="272658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AD8CECE-1313-9EE5-959F-C5910E80D7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394449"/>
            <a:ext cx="3983690" cy="28981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09E0674-DDA1-2475-520C-9ADFB808CF50}"/>
              </a:ext>
            </a:extLst>
          </p:cNvPr>
          <p:cNvSpPr txBox="1"/>
          <p:nvPr/>
        </p:nvSpPr>
        <p:spPr>
          <a:xfrm>
            <a:off x="261257" y="4259951"/>
            <a:ext cx="24492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Starting &amp; Signup for student user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A13A74-B648-BF2B-6595-76C91C087534}"/>
              </a:ext>
            </a:extLst>
          </p:cNvPr>
          <p:cNvSpPr txBox="1"/>
          <p:nvPr/>
        </p:nvSpPr>
        <p:spPr>
          <a:xfrm>
            <a:off x="4944286" y="4296021"/>
            <a:ext cx="24492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Admin login menu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>
          <a:extLst>
            <a:ext uri="{FF2B5EF4-FFF2-40B4-BE49-F238E27FC236}">
              <a16:creationId xmlns:a16="http://schemas.microsoft.com/office/drawing/2014/main" id="{EEF39E8D-9428-895D-393F-B3FC12B3A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3">
            <a:extLst>
              <a:ext uri="{FF2B5EF4-FFF2-40B4-BE49-F238E27FC236}">
                <a16:creationId xmlns:a16="http://schemas.microsoft.com/office/drawing/2014/main" id="{43FC4A21-8273-E8CA-DFA9-79008D8D446A}"/>
              </a:ext>
            </a:extLst>
          </p:cNvPr>
          <p:cNvSpPr txBox="1"/>
          <p:nvPr/>
        </p:nvSpPr>
        <p:spPr>
          <a:xfrm>
            <a:off x="1393850" y="215950"/>
            <a:ext cx="6800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Results/Simulation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AC74E1A-8E18-79E5-363C-910788D063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757" y="1146627"/>
            <a:ext cx="6796808" cy="174352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749C5B0-0CCA-6D64-2942-7F26A2E410CF}"/>
              </a:ext>
            </a:extLst>
          </p:cNvPr>
          <p:cNvSpPr txBox="1"/>
          <p:nvPr/>
        </p:nvSpPr>
        <p:spPr>
          <a:xfrm>
            <a:off x="169206" y="2945381"/>
            <a:ext cx="32108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Approval of Request for signup of students </a:t>
            </a:r>
          </a:p>
        </p:txBody>
      </p:sp>
    </p:spTree>
    <p:extLst>
      <p:ext uri="{BB962C8B-B14F-4D97-AF65-F5344CB8AC3E}">
        <p14:creationId xmlns:p14="http://schemas.microsoft.com/office/powerpoint/2010/main" val="25537476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>
          <a:extLst>
            <a:ext uri="{FF2B5EF4-FFF2-40B4-BE49-F238E27FC236}">
              <a16:creationId xmlns:a16="http://schemas.microsoft.com/office/drawing/2014/main" id="{F4172537-B464-4836-B91E-CA804184A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3">
            <a:extLst>
              <a:ext uri="{FF2B5EF4-FFF2-40B4-BE49-F238E27FC236}">
                <a16:creationId xmlns:a16="http://schemas.microsoft.com/office/drawing/2014/main" id="{64686704-2210-AD9C-0E5D-220C09F8FBF3}"/>
              </a:ext>
            </a:extLst>
          </p:cNvPr>
          <p:cNvSpPr txBox="1"/>
          <p:nvPr/>
        </p:nvSpPr>
        <p:spPr>
          <a:xfrm>
            <a:off x="1393850" y="215950"/>
            <a:ext cx="6800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Results/Simulation</a:t>
            </a: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0B9D57-2B12-F9A1-4C01-A42E58DC71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770" y="1145721"/>
            <a:ext cx="3447143" cy="29433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69D4232-4A0A-CA47-024C-9F248C4BDA55}"/>
              </a:ext>
            </a:extLst>
          </p:cNvPr>
          <p:cNvSpPr txBox="1"/>
          <p:nvPr/>
        </p:nvSpPr>
        <p:spPr>
          <a:xfrm>
            <a:off x="275770" y="4251091"/>
            <a:ext cx="32983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Login for Student user and menu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707111-08CE-BE22-02B3-3239C910C6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5478" y="846121"/>
            <a:ext cx="4367650" cy="32536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201A9A8-809F-F035-3116-EB3F4B36CD4A}"/>
              </a:ext>
            </a:extLst>
          </p:cNvPr>
          <p:cNvSpPr txBox="1"/>
          <p:nvPr/>
        </p:nvSpPr>
        <p:spPr>
          <a:xfrm>
            <a:off x="4335478" y="4251091"/>
            <a:ext cx="32983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Issuing of a book for student</a:t>
            </a:r>
          </a:p>
        </p:txBody>
      </p:sp>
    </p:spTree>
    <p:extLst>
      <p:ext uri="{BB962C8B-B14F-4D97-AF65-F5344CB8AC3E}">
        <p14:creationId xmlns:p14="http://schemas.microsoft.com/office/powerpoint/2010/main" val="4030142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4"/>
          <p:cNvSpPr txBox="1">
            <a:spLocks noGrp="1"/>
          </p:cNvSpPr>
          <p:nvPr>
            <p:ph type="body" idx="1"/>
          </p:nvPr>
        </p:nvSpPr>
        <p:spPr>
          <a:xfrm>
            <a:off x="131110" y="943711"/>
            <a:ext cx="8881800" cy="36891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 fontScale="85000" lnSpcReduction="2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b="1" dirty="0"/>
              <a:t>Critical Technical Resolutions</a:t>
            </a: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700" b="1" dirty="0"/>
              <a:t>1. Index </a:t>
            </a:r>
            <a:r>
              <a:rPr lang="en-US" sz="1700" b="1" dirty="0"/>
              <a:t>Offset Miscalculation</a:t>
            </a:r>
          </a:p>
          <a:p>
            <a:pPr marL="457200" lvl="0" indent="-3238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2060"/>
              </a:buClr>
              <a:buSzPts val="1500"/>
              <a:buChar char="●"/>
            </a:pPr>
            <a:r>
              <a:rPr lang="en-US" sz="1500" b="1" dirty="0"/>
              <a:t>Issue: </a:t>
            </a:r>
            <a:r>
              <a:rPr lang="en-US" sz="1500" dirty="0"/>
              <a:t>Incorrect record addressing when calculation (Index x </a:t>
            </a:r>
            <a:r>
              <a:rPr lang="en-US" sz="1500" dirty="0" err="1"/>
              <a:t>RecordSize</a:t>
            </a:r>
            <a:r>
              <a:rPr lang="en-US" sz="1500" dirty="0"/>
              <a:t>) could access wrong memory locations</a:t>
            </a:r>
          </a:p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500"/>
              <a:buChar char="●"/>
            </a:pPr>
            <a:r>
              <a:rPr lang="en-US" sz="1500" b="1" dirty="0"/>
              <a:t>Fix: </a:t>
            </a:r>
            <a:r>
              <a:rPr lang="en-US" sz="1500" dirty="0"/>
              <a:t>Standardized 16-bit multiplication using MUL BX and controlled offset addition before record access</a:t>
            </a: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700" b="1" dirty="0"/>
              <a:t>2. Array Boundary &amp; Loop Control Errors</a:t>
            </a:r>
            <a:endParaRPr sz="1700" b="1" dirty="0"/>
          </a:p>
          <a:p>
            <a:pPr marL="457200" lvl="0" indent="-3238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2060"/>
              </a:buClr>
              <a:buSzPts val="1500"/>
              <a:buChar char="●"/>
            </a:pPr>
            <a:r>
              <a:rPr lang="en" sz="1500" b="1" dirty="0"/>
              <a:t>Issue:</a:t>
            </a:r>
            <a:r>
              <a:rPr lang="en" sz="1500" dirty="0"/>
              <a:t> Potential out-of-bounds traversal during search, issue, or return operation </a:t>
            </a:r>
            <a:endParaRPr sz="1500" dirty="0"/>
          </a:p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500"/>
              <a:buChar char="●"/>
            </a:pPr>
            <a:r>
              <a:rPr lang="en" sz="1500" b="1" dirty="0"/>
              <a:t>Fix: </a:t>
            </a:r>
            <a:r>
              <a:rPr lang="en" sz="1500" dirty="0"/>
              <a:t>Bounded all loops using record counters (</a:t>
            </a:r>
            <a:r>
              <a:rPr lang="en" sz="1500" dirty="0" err="1"/>
              <a:t>issue_count</a:t>
            </a:r>
            <a:r>
              <a:rPr lang="en" sz="1500" dirty="0"/>
              <a:t>, </a:t>
            </a:r>
            <a:r>
              <a:rPr lang="en" sz="1500" dirty="0" err="1"/>
              <a:t>student_count</a:t>
            </a:r>
            <a:r>
              <a:rPr lang="en" sz="1500" dirty="0"/>
              <a:t>) and controlled iteration via LOOP instruction </a:t>
            </a:r>
            <a:endParaRPr sz="1500" dirty="0"/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700" b="1" dirty="0"/>
              <a:t>3. Record Deletion Shifting Logic</a:t>
            </a:r>
            <a:endParaRPr sz="1700" b="1" dirty="0"/>
          </a:p>
          <a:p>
            <a:pPr marL="457200" lvl="0" indent="-3238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2060"/>
              </a:buClr>
              <a:buSzPts val="1500"/>
              <a:buChar char="●"/>
            </a:pPr>
            <a:r>
              <a:rPr lang="en" sz="1500" b="1" dirty="0"/>
              <a:t>Issue: </a:t>
            </a:r>
            <a:r>
              <a:rPr lang="en" sz="1500" dirty="0"/>
              <a:t>Returning a book required shifting array elements which could cause data misalignment </a:t>
            </a:r>
            <a:endParaRPr sz="1500" dirty="0"/>
          </a:p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500"/>
              <a:buChar char="●"/>
            </a:pPr>
            <a:r>
              <a:rPr lang="en" sz="1500" b="1" dirty="0"/>
              <a:t>Fix:</a:t>
            </a:r>
            <a:r>
              <a:rPr lang="en" sz="1500" dirty="0"/>
              <a:t> Implemented controlled index-based shifting across all related arrays before safely decrementing </a:t>
            </a:r>
            <a:r>
              <a:rPr lang="en" sz="1500" dirty="0" err="1"/>
              <a:t>issue_count</a:t>
            </a:r>
            <a:endParaRPr b="1" dirty="0"/>
          </a:p>
        </p:txBody>
      </p:sp>
      <p:sp>
        <p:nvSpPr>
          <p:cNvPr id="326" name="Google Shape;326;p44"/>
          <p:cNvSpPr txBox="1"/>
          <p:nvPr/>
        </p:nvSpPr>
        <p:spPr>
          <a:xfrm>
            <a:off x="1393850" y="215950"/>
            <a:ext cx="6800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Results/Simulation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5"/>
          <p:cNvSpPr txBox="1">
            <a:spLocks noGrp="1"/>
          </p:cNvSpPr>
          <p:nvPr>
            <p:ph type="dt" idx="10"/>
          </p:nvPr>
        </p:nvSpPr>
        <p:spPr>
          <a:xfrm>
            <a:off x="131109" y="476040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/>
              <a:t>Monday, 19 January 2026</a:t>
            </a:r>
            <a:endParaRPr/>
          </a:p>
        </p:txBody>
      </p:sp>
      <p:sp>
        <p:nvSpPr>
          <p:cNvPr id="334" name="Google Shape;334;p45"/>
          <p:cNvSpPr txBox="1">
            <a:spLocks noGrp="1"/>
          </p:cNvSpPr>
          <p:nvPr>
            <p:ph type="sldNum" idx="12"/>
          </p:nvPr>
        </p:nvSpPr>
        <p:spPr>
          <a:xfrm>
            <a:off x="6955491" y="476040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  <p:sp>
        <p:nvSpPr>
          <p:cNvPr id="335" name="Google Shape;335;p45"/>
          <p:cNvSpPr txBox="1"/>
          <p:nvPr/>
        </p:nvSpPr>
        <p:spPr>
          <a:xfrm>
            <a:off x="1713271" y="109252"/>
            <a:ext cx="6109928" cy="629551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Future Scope</a:t>
            </a:r>
            <a:endParaRPr sz="3000" b="1">
              <a:solidFill>
                <a:srgbClr val="C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92C1265-7AE3-4CFE-5125-E1B62F89E9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31109" y="619185"/>
            <a:ext cx="9012891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indent="-285750">
              <a:lnSpc>
                <a:spcPct val="100000"/>
              </a:lnSpc>
              <a:buClrTx/>
              <a:buSzTx/>
            </a:pPr>
            <a:r>
              <a:rPr lang="en-US" altLang="en-US" sz="1800" b="1" dirty="0">
                <a:solidFill>
                  <a:srgbClr val="002060"/>
                </a:solidFill>
                <a:latin typeface="Bookman Old Style" panose="02050604050505020204" pitchFamily="18" charset="0"/>
              </a:rPr>
              <a:t>Binary State Persistence:</a:t>
            </a:r>
            <a:br>
              <a:rPr lang="en-US" altLang="en-US" sz="1800" dirty="0">
                <a:solidFill>
                  <a:srgbClr val="002060"/>
                </a:solidFill>
                <a:latin typeface="Bookman Old Style" panose="02050604050505020204" pitchFamily="18" charset="0"/>
              </a:rPr>
            </a:br>
            <a:r>
              <a:rPr lang="en-US" altLang="en-US" sz="1800" dirty="0">
                <a:solidFill>
                  <a:srgbClr val="002060"/>
                </a:solidFill>
                <a:latin typeface="Bookman Old Style" panose="02050604050505020204" pitchFamily="18" charset="0"/>
              </a:rPr>
              <a:t>Implement a binary save/load system (e.g., LIBDATA.DAT) to store complete student, book, and issue arrays for faster system restoration compared to manual reinitialization.</a:t>
            </a:r>
          </a:p>
          <a:p>
            <a:pPr marL="285750" indent="-285750">
              <a:lnSpc>
                <a:spcPct val="100000"/>
              </a:lnSpc>
              <a:buClrTx/>
              <a:buSzTx/>
            </a:pPr>
            <a:r>
              <a:rPr lang="en-US" altLang="en-US" sz="1800" b="1" dirty="0">
                <a:solidFill>
                  <a:srgbClr val="002060"/>
                </a:solidFill>
                <a:latin typeface="Bookman Old Style" panose="02050604050505020204" pitchFamily="18" charset="0"/>
              </a:rPr>
              <a:t>Algorithmic Scalability:</a:t>
            </a:r>
            <a:br>
              <a:rPr lang="en-US" altLang="en-US" sz="1800" dirty="0">
                <a:solidFill>
                  <a:srgbClr val="002060"/>
                </a:solidFill>
                <a:latin typeface="Bookman Old Style" panose="02050604050505020204" pitchFamily="18" charset="0"/>
              </a:rPr>
            </a:br>
            <a:r>
              <a:rPr lang="en-US" altLang="en-US" sz="1800" dirty="0">
                <a:solidFill>
                  <a:srgbClr val="002060"/>
                </a:solidFill>
                <a:latin typeface="Bookman Old Style" panose="02050604050505020204" pitchFamily="18" charset="0"/>
              </a:rPr>
              <a:t>Introduce </a:t>
            </a:r>
            <a:r>
              <a:rPr lang="en-US" altLang="en-US" sz="1800" b="1" dirty="0">
                <a:solidFill>
                  <a:srgbClr val="002060"/>
                </a:solidFill>
                <a:latin typeface="Bookman Old Style" panose="02050604050505020204" pitchFamily="18" charset="0"/>
              </a:rPr>
              <a:t>Binary Search (O(log N))</a:t>
            </a:r>
            <a:r>
              <a:rPr lang="en-US" altLang="en-US" sz="1800" dirty="0">
                <a:solidFill>
                  <a:srgbClr val="002060"/>
                </a:solidFill>
                <a:latin typeface="Bookman Old Style" panose="02050604050505020204" pitchFamily="18" charset="0"/>
              </a:rPr>
              <a:t> for sorted student/book IDs and optional </a:t>
            </a:r>
            <a:r>
              <a:rPr lang="en-US" altLang="en-US" sz="1800" b="1" dirty="0">
                <a:solidFill>
                  <a:srgbClr val="002060"/>
                </a:solidFill>
                <a:latin typeface="Bookman Old Style" panose="02050604050505020204" pitchFamily="18" charset="0"/>
              </a:rPr>
              <a:t>Hash-Based Indexing</a:t>
            </a:r>
            <a:r>
              <a:rPr lang="en-US" altLang="en-US" sz="1800" dirty="0">
                <a:solidFill>
                  <a:srgbClr val="002060"/>
                </a:solidFill>
                <a:latin typeface="Bookman Old Style" panose="02050604050505020204" pitchFamily="18" charset="0"/>
              </a:rPr>
              <a:t> to reduce reliance on current linear searches.</a:t>
            </a:r>
          </a:p>
          <a:p>
            <a:pPr marL="285750" indent="-285750">
              <a:lnSpc>
                <a:spcPct val="100000"/>
              </a:lnSpc>
              <a:buClrTx/>
              <a:buSzTx/>
            </a:pPr>
            <a:r>
              <a:rPr lang="en-US" altLang="en-US" sz="1800" b="1" dirty="0">
                <a:solidFill>
                  <a:srgbClr val="002060"/>
                </a:solidFill>
                <a:latin typeface="Bookman Old Style" panose="02050604050505020204" pitchFamily="18" charset="0"/>
              </a:rPr>
              <a:t>Optimized Record Reuse:</a:t>
            </a:r>
            <a:br>
              <a:rPr lang="en-US" altLang="en-US" sz="1800" dirty="0">
                <a:solidFill>
                  <a:srgbClr val="002060"/>
                </a:solidFill>
                <a:latin typeface="Bookman Old Style" panose="02050604050505020204" pitchFamily="18" charset="0"/>
              </a:rPr>
            </a:br>
            <a:r>
              <a:rPr lang="en-US" altLang="en-US" sz="1800" dirty="0">
                <a:solidFill>
                  <a:srgbClr val="002060"/>
                </a:solidFill>
                <a:latin typeface="Bookman Old Style" panose="02050604050505020204" pitchFamily="18" charset="0"/>
              </a:rPr>
              <a:t>Replace array shifting during deletion with a </a:t>
            </a:r>
            <a:r>
              <a:rPr lang="en-US" altLang="en-US" sz="1800" b="1" dirty="0">
                <a:solidFill>
                  <a:srgbClr val="002060"/>
                </a:solidFill>
                <a:latin typeface="Bookman Old Style" panose="02050604050505020204" pitchFamily="18" charset="0"/>
              </a:rPr>
              <a:t>Free-Slot Tracking Mechanism</a:t>
            </a:r>
            <a:r>
              <a:rPr lang="en-US" altLang="en-US" sz="1800" dirty="0">
                <a:solidFill>
                  <a:srgbClr val="002060"/>
                </a:solidFill>
                <a:latin typeface="Bookman Old Style" panose="02050604050505020204" pitchFamily="18" charset="0"/>
              </a:rPr>
              <a:t> to reuse deleted issue entries and improve performance.</a:t>
            </a:r>
          </a:p>
          <a:p>
            <a:pPr marL="285750" indent="-285750">
              <a:lnSpc>
                <a:spcPct val="100000"/>
              </a:lnSpc>
              <a:buClrTx/>
              <a:buSzTx/>
            </a:pPr>
            <a:r>
              <a:rPr lang="en-US" altLang="en-US" sz="1800" b="1" dirty="0">
                <a:solidFill>
                  <a:srgbClr val="002060"/>
                </a:solidFill>
                <a:latin typeface="Bookman Old Style" panose="02050604050505020204" pitchFamily="18" charset="0"/>
              </a:rPr>
              <a:t>Enhanced Security Model:</a:t>
            </a:r>
            <a:br>
              <a:rPr lang="en-US" altLang="en-US" sz="1800" dirty="0">
                <a:solidFill>
                  <a:srgbClr val="002060"/>
                </a:solidFill>
                <a:latin typeface="Bookman Old Style" panose="02050604050505020204" pitchFamily="18" charset="0"/>
              </a:rPr>
            </a:br>
            <a:r>
              <a:rPr lang="en-US" altLang="en-US" sz="1800" dirty="0">
                <a:solidFill>
                  <a:srgbClr val="002060"/>
                </a:solidFill>
                <a:latin typeface="Bookman Old Style" panose="02050604050505020204" pitchFamily="18" charset="0"/>
              </a:rPr>
              <a:t>Upgrade from basic XOR-based password encryption to stronger hashing techniques while maintaining compatibility with 8086 real-mode constraints.</a:t>
            </a:r>
          </a:p>
          <a:p>
            <a:pPr marL="285750" indent="-285750">
              <a:lnSpc>
                <a:spcPct val="100000"/>
              </a:lnSpc>
              <a:buClrTx/>
              <a:buSzTx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6"/>
          <p:cNvSpPr txBox="1">
            <a:spLocks noGrp="1"/>
          </p:cNvSpPr>
          <p:nvPr>
            <p:ph type="dt" idx="10"/>
          </p:nvPr>
        </p:nvSpPr>
        <p:spPr>
          <a:xfrm>
            <a:off x="131109" y="476040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/>
              <a:t>Monday, 19 January 2026</a:t>
            </a:r>
            <a:endParaRPr/>
          </a:p>
        </p:txBody>
      </p:sp>
      <p:sp>
        <p:nvSpPr>
          <p:cNvPr id="343" name="Google Shape;343;p46"/>
          <p:cNvSpPr txBox="1">
            <a:spLocks noGrp="1"/>
          </p:cNvSpPr>
          <p:nvPr>
            <p:ph type="sldNum" idx="12"/>
          </p:nvPr>
        </p:nvSpPr>
        <p:spPr>
          <a:xfrm>
            <a:off x="6955491" y="476040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  <p:sp>
        <p:nvSpPr>
          <p:cNvPr id="344" name="Google Shape;344;p46"/>
          <p:cNvSpPr txBox="1"/>
          <p:nvPr/>
        </p:nvSpPr>
        <p:spPr>
          <a:xfrm>
            <a:off x="1713271" y="109252"/>
            <a:ext cx="6109928" cy="629551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Conclusion</a:t>
            </a:r>
            <a:endParaRPr sz="3000" b="1">
              <a:solidFill>
                <a:srgbClr val="C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B83CD6A-5A38-AA00-785C-6F8EEFE7C3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31764" y="1152953"/>
            <a:ext cx="8881128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indent="-285750">
              <a:lnSpc>
                <a:spcPct val="100000"/>
              </a:lnSpc>
              <a:buClrTx/>
              <a:buSzTx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Bookman Old Style" panose="02050604050505020204" pitchFamily="18" charset="0"/>
              </a:rPr>
              <a:t>Structured Library System in 8086 Assembly: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Bookman Old Style" panose="02050604050505020204" pitchFamily="18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Bookman Old Style" panose="02050604050505020204" pitchFamily="18" charset="0"/>
              </a:rPr>
              <a:t>Successfully implemented a complete role-based Library Management System using pure 8086 Assembly with fixed-size in-memory arrays and DOS interrupt services.</a:t>
            </a:r>
          </a:p>
          <a:p>
            <a:pPr marL="285750" indent="-285750">
              <a:lnSpc>
                <a:spcPct val="100000"/>
              </a:lnSpc>
              <a:buClrTx/>
              <a:buSzTx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Bookman Old Style" panose="02050604050505020204" pitchFamily="18" charset="0"/>
              </a:rPr>
              <a:t>Efficient Index-Based Architecture: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Bookman Old Style" panose="02050604050505020204" pitchFamily="18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Bookman Old Style" panose="02050604050505020204" pitchFamily="18" charset="0"/>
              </a:rPr>
              <a:t>Achieved predictable performance through direct index computation, constant-time issue insertion (O(1)) and controlled linear traversal for search and updates.</a:t>
            </a:r>
          </a:p>
          <a:p>
            <a:pPr marL="285750" indent="-285750">
              <a:lnSpc>
                <a:spcPct val="100000"/>
              </a:lnSpc>
              <a:buClrTx/>
              <a:buSzTx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Bookman Old Style" panose="02050604050505020204" pitchFamily="18" charset="0"/>
              </a:rPr>
              <a:t>Robust Memory Control: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Bookman Old Style" panose="02050604050505020204" pitchFamily="18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Bookman Old Style" panose="02050604050505020204" pitchFamily="18" charset="0"/>
              </a:rPr>
              <a:t>Ensured stable operation within the 64KB real-mode constraint using bounded loops, manual record shifting, and disciplined register management.</a:t>
            </a:r>
          </a:p>
          <a:p>
            <a:pPr marL="285750" indent="-285750">
              <a:lnSpc>
                <a:spcPct val="100000"/>
              </a:lnSpc>
              <a:buClrTx/>
              <a:buSzTx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Bookman Old Style" panose="02050604050505020204" pitchFamily="18" charset="0"/>
              </a:rPr>
              <a:t>Practical Low-Level Learning: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Bookman Old Style" panose="02050604050505020204" pitchFamily="18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Bookman Old Style" panose="02050604050505020204" pitchFamily="18" charset="0"/>
              </a:rPr>
              <a:t>Applied core system concepts—pointer arithmetic, segmented memory addressing, register-level optimization, and interrupt-driven I/O—demonstrating their relevance to embedded and low-level system design.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7"/>
          <p:cNvSpPr txBox="1">
            <a:spLocks noGrp="1"/>
          </p:cNvSpPr>
          <p:nvPr>
            <p:ph type="dt" idx="10"/>
          </p:nvPr>
        </p:nvSpPr>
        <p:spPr>
          <a:xfrm>
            <a:off x="131109" y="476040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/>
              <a:t>Monday, 19 January 2026</a:t>
            </a:r>
            <a:endParaRPr/>
          </a:p>
        </p:txBody>
      </p:sp>
      <p:sp>
        <p:nvSpPr>
          <p:cNvPr id="350" name="Google Shape;350;p47"/>
          <p:cNvSpPr txBox="1">
            <a:spLocks noGrp="1"/>
          </p:cNvSpPr>
          <p:nvPr>
            <p:ph type="sldNum" idx="12"/>
          </p:nvPr>
        </p:nvSpPr>
        <p:spPr>
          <a:xfrm>
            <a:off x="6955491" y="476040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  <p:pic>
        <p:nvPicPr>
          <p:cNvPr id="351" name="Google Shape;351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63322" y="1204473"/>
            <a:ext cx="4417359" cy="273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1787</Words>
  <Application>Microsoft Macintosh PowerPoint</Application>
  <PresentationFormat>On-screen Show (16:9)</PresentationFormat>
  <Paragraphs>222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Bookman Old Style</vt:lpstr>
      <vt:lpstr>Calibri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Divit Gupta</cp:lastModifiedBy>
  <cp:revision>2</cp:revision>
  <dcterms:modified xsi:type="dcterms:W3CDTF">2026-02-11T20:25:57Z</dcterms:modified>
</cp:coreProperties>
</file>