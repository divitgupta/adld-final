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71" r:id="rId1"/>
  </p:sldMasterIdLst>
  <p:notesMasterIdLst>
    <p:notesMasterId r:id="rId25"/>
  </p:notesMasterIdLst>
  <p:sldIdLst>
    <p:sldId id="256" r:id="rId2"/>
    <p:sldId id="281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4" r:id="rId18"/>
    <p:sldId id="279" r:id="rId19"/>
    <p:sldId id="280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4099"/>
    <p:restoredTop sz="94668"/>
  </p:normalViewPr>
  <p:slideViewPr>
    <p:cSldViewPr snapToGrid="0">
      <p:cViewPr varScale="1">
        <p:scale>
          <a:sx n="140" d="100"/>
          <a:sy n="140" d="100"/>
        </p:scale>
        <p:origin x="704" y="4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g3b8b010eb99_2_112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4" name="Google Shape;164;g3b8b010eb99_2_1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98463" y="1243013"/>
            <a:ext cx="5964237" cy="33559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2" name="Google Shape;132;p2:notes"/>
          <p:cNvSpPr txBox="1">
            <a:spLocks noGrp="1"/>
          </p:cNvSpPr>
          <p:nvPr>
            <p:ph type="body" idx="1"/>
          </p:nvPr>
        </p:nvSpPr>
        <p:spPr>
          <a:xfrm>
            <a:off x="676117" y="4784835"/>
            <a:ext cx="5408930" cy="391486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3" name="Google Shape;133;p2:notes"/>
          <p:cNvSpPr txBox="1">
            <a:spLocks noGrp="1"/>
          </p:cNvSpPr>
          <p:nvPr>
            <p:ph type="sldNum" idx="12"/>
          </p:nvPr>
        </p:nvSpPr>
        <p:spPr>
          <a:xfrm>
            <a:off x="3829761" y="9443662"/>
            <a:ext cx="2929837" cy="49885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IN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b8b010eb99_2_138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2" name="Google Shape;172;g3b8b010eb99_2_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b8b010eb99_2_146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1" name="Google Shape;181;g3b8b010eb99_2_14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g3babd81770c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9" name="Google Shape;189;g3babd81770c_1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b8b010eb99_2_160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5" name="Google Shape;195;g3b8b010eb99_2_16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babd81770c_0_3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3" name="Google Shape;203;g3babd81770c_0_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g3b8b010eb99_2_174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1" name="Google Shape;211;g3b8b010eb99_2_17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babd81770c_0_11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19" name="Google Shape;219;g3babd81770c_0_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g3babd81770c_0_19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7" name="Google Shape;227;g3babd81770c_0_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g3b8b010eb99_2_181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6" name="Google Shape;236;g3b8b010eb99_2_18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3babd81770c_0_38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5" name="Google Shape;245;g3babd81770c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babd81770c_0_29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53" name="Google Shape;253;g3babd81770c_0_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g3babd81770c_0_48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g3babd81770c_0_4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babd81770c_0_57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00" cy="3600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1" name="Google Shape;271;g3babd81770c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b8b010eb99_2_1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79" name="Google Shape;279;g3b8b010eb99_2_195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0" name="Google Shape;280;g3b8b010eb99_2_195:notes"/>
          <p:cNvSpPr txBox="1">
            <a:spLocks noGrp="1"/>
          </p:cNvSpPr>
          <p:nvPr>
            <p:ph type="sldNum" idx="12"/>
          </p:nvPr>
        </p:nvSpPr>
        <p:spPr>
          <a:xfrm>
            <a:off x="3884620" y="8685225"/>
            <a:ext cx="2971805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babd81770c_0_9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babd81770c_0_9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>
          <a:extLst>
            <a:ext uri="{FF2B5EF4-FFF2-40B4-BE49-F238E27FC236}">
              <a16:creationId xmlns:a16="http://schemas.microsoft.com/office/drawing/2014/main" id="{BD1EA2EF-EDCC-17F1-8A82-C1E0BF5C8B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babd81770c_0_93:notes">
            <a:extLst>
              <a:ext uri="{FF2B5EF4-FFF2-40B4-BE49-F238E27FC236}">
                <a16:creationId xmlns:a16="http://schemas.microsoft.com/office/drawing/2014/main" id="{9466F3E7-AC1B-CD82-31FB-9E61738AEFE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babd81770c_0_93:notes">
            <a:extLst>
              <a:ext uri="{FF2B5EF4-FFF2-40B4-BE49-F238E27FC236}">
                <a16:creationId xmlns:a16="http://schemas.microsoft.com/office/drawing/2014/main" id="{F85C4000-E9C4-CEBC-C719-6409488DC7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6507339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4">
          <a:extLst>
            <a:ext uri="{FF2B5EF4-FFF2-40B4-BE49-F238E27FC236}">
              <a16:creationId xmlns:a16="http://schemas.microsoft.com/office/drawing/2014/main" id="{E7747064-0747-9B4C-0C60-FDBE3EBD09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babd81770c_0_93:notes">
            <a:extLst>
              <a:ext uri="{FF2B5EF4-FFF2-40B4-BE49-F238E27FC236}">
                <a16:creationId xmlns:a16="http://schemas.microsoft.com/office/drawing/2014/main" id="{D1EEDA7C-892F-5008-F944-C42D7E49C0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16" name="Google Shape;316;g3babd81770c_0_93:notes">
            <a:extLst>
              <a:ext uri="{FF2B5EF4-FFF2-40B4-BE49-F238E27FC236}">
                <a16:creationId xmlns:a16="http://schemas.microsoft.com/office/drawing/2014/main" id="{EA2D8E5C-7489-1C25-4769-14A7BCBBB9F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5486229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g3babd81770c_0_1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23" name="Google Shape;323;g3babd81770c_0_10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g3b8b010eb99_2_2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9" name="Google Shape;329;g3b8b010eb99_2_227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0" name="Google Shape;330;g3b8b010eb99_2_227:notes"/>
          <p:cNvSpPr txBox="1">
            <a:spLocks noGrp="1"/>
          </p:cNvSpPr>
          <p:nvPr>
            <p:ph type="sldNum" idx="12"/>
          </p:nvPr>
        </p:nvSpPr>
        <p:spPr>
          <a:xfrm>
            <a:off x="3884620" y="8685225"/>
            <a:ext cx="2971805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b8b010eb99_2_2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38" name="Google Shape;338;g3b8b010eb99_2_235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39" name="Google Shape;339;g3b8b010eb99_2_235:notes"/>
          <p:cNvSpPr txBox="1">
            <a:spLocks noGrp="1"/>
          </p:cNvSpPr>
          <p:nvPr>
            <p:ph type="sldNum" idx="12"/>
          </p:nvPr>
        </p:nvSpPr>
        <p:spPr>
          <a:xfrm>
            <a:off x="3884620" y="8685225"/>
            <a:ext cx="2971805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b8b010eb99_2_259:notes"/>
          <p:cNvSpPr txBox="1">
            <a:spLocks noGrp="1"/>
          </p:cNvSpPr>
          <p:nvPr>
            <p:ph type="body" idx="1"/>
          </p:nvPr>
        </p:nvSpPr>
        <p:spPr>
          <a:xfrm>
            <a:off x="685802" y="4400556"/>
            <a:ext cx="5486410" cy="3600454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7" name="Google Shape;347;g3b8b010eb99_2_25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4"/>
          <p:cNvSpPr txBox="1">
            <a:spLocks noGrp="1"/>
          </p:cNvSpPr>
          <p:nvPr>
            <p:ph type="body" idx="1"/>
          </p:nvPr>
        </p:nvSpPr>
        <p:spPr>
          <a:xfrm>
            <a:off x="131110" y="943712"/>
            <a:ext cx="8881783" cy="36890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6195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  <a:defRPr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2060"/>
              </a:buClr>
              <a:buSzPts val="1500"/>
              <a:buChar char="•"/>
              <a:defRPr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2060"/>
              </a:buClr>
              <a:buSzPts val="1400"/>
              <a:buChar char="•"/>
              <a:defRPr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002060"/>
              </a:buClr>
              <a:buSzPts val="1400"/>
              <a:buChar char="•"/>
              <a:defRPr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58" name="Google Shape;58;p14"/>
          <p:cNvSpPr txBox="1"/>
          <p:nvPr/>
        </p:nvSpPr>
        <p:spPr>
          <a:xfrm>
            <a:off x="3791697" y="4803855"/>
            <a:ext cx="1560604" cy="16741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5775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 b="1" i="1" u="none" strike="noStrike" cap="none">
                <a:solidFill>
                  <a:srgbClr val="422C75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Go, change the world</a:t>
            </a:r>
            <a:endParaRPr sz="1100" b="1" i="0" u="none" strike="noStrike" cap="none">
              <a:solidFill>
                <a:schemeClr val="dk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59" name="Google Shape;59;p14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1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14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0" lvl="1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2pPr>
            <a:lvl3pPr marL="0" lvl="2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3pPr>
            <a:lvl4pPr marL="0" lvl="3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4pPr>
            <a:lvl5pPr marL="0" lvl="4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5pPr>
            <a:lvl6pPr marL="0" lvl="5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6pPr>
            <a:lvl7pPr marL="0" lvl="6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7pPr>
            <a:lvl8pPr marL="0" lvl="7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8pPr>
            <a:lvl9pPr marL="0" lvl="8" indent="0" algn="r">
              <a:spcBef>
                <a:spcPts val="0"/>
              </a:spcBef>
              <a:buNone/>
              <a:defRPr sz="900" b="1" i="0" u="none" strike="noStrike" cap="none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61" name="Google Shape;61;p14"/>
          <p:cNvPicPr preferRelativeResize="0"/>
          <p:nvPr/>
        </p:nvPicPr>
        <p:blipFill rotWithShape="1">
          <a:blip r:embed="rId2">
            <a:alphaModFix/>
          </a:blip>
          <a:srcRect t="13833"/>
          <a:stretch/>
        </p:blipFill>
        <p:spPr>
          <a:xfrm>
            <a:off x="-1" y="57320"/>
            <a:ext cx="1655629" cy="7482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>
  <p:cSld name="Two Content"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16"/>
          <p:cNvSpPr txBox="1">
            <a:spLocks noGrp="1"/>
          </p:cNvSpPr>
          <p:nvPr>
            <p:ph type="body" idx="1"/>
          </p:nvPr>
        </p:nvSpPr>
        <p:spPr>
          <a:xfrm>
            <a:off x="201706" y="943711"/>
            <a:ext cx="4313144" cy="3689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6"/>
          <p:cNvSpPr txBox="1">
            <a:spLocks noGrp="1"/>
          </p:cNvSpPr>
          <p:nvPr>
            <p:ph type="body" idx="2"/>
          </p:nvPr>
        </p:nvSpPr>
        <p:spPr>
          <a:xfrm>
            <a:off x="4629152" y="943710"/>
            <a:ext cx="4346762" cy="36890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2" name="Google Shape;72;p16"/>
          <p:cNvSpPr txBox="1">
            <a:spLocks noGrp="1"/>
          </p:cNvSpPr>
          <p:nvPr>
            <p:ph type="dt" idx="10"/>
          </p:nvPr>
        </p:nvSpPr>
        <p:spPr>
          <a:xfrm>
            <a:off x="201705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6"/>
          <p:cNvSpPr txBox="1">
            <a:spLocks noGrp="1"/>
          </p:cNvSpPr>
          <p:nvPr>
            <p:ph type="sldNum" idx="12"/>
          </p:nvPr>
        </p:nvSpPr>
        <p:spPr>
          <a:xfrm>
            <a:off x="6918512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74" name="Google Shape;74;p16"/>
          <p:cNvGrpSpPr/>
          <p:nvPr/>
        </p:nvGrpSpPr>
        <p:grpSpPr>
          <a:xfrm>
            <a:off x="3647128" y="4659386"/>
            <a:ext cx="1735443" cy="450476"/>
            <a:chOff x="9682912" y="8965"/>
            <a:chExt cx="2402541" cy="600635"/>
          </a:xfrm>
        </p:grpSpPr>
        <p:sp>
          <p:nvSpPr>
            <p:cNvPr id="75" name="Google Shape;75;p16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76" name="Google Shape;76;p16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5775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1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  <p:pic>
        <p:nvPicPr>
          <p:cNvPr id="77" name="Google Shape;77;p16"/>
          <p:cNvPicPr preferRelativeResize="0"/>
          <p:nvPr/>
        </p:nvPicPr>
        <p:blipFill rotWithShape="1">
          <a:blip r:embed="rId2">
            <a:alphaModFix/>
          </a:blip>
          <a:srcRect t="13833"/>
          <a:stretch/>
        </p:blipFill>
        <p:spPr>
          <a:xfrm>
            <a:off x="168088" y="60949"/>
            <a:ext cx="1655629" cy="74822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7"/>
          <p:cNvSpPr txBox="1">
            <a:spLocks noGrp="1"/>
          </p:cNvSpPr>
          <p:nvPr>
            <p:ph type="title"/>
          </p:nvPr>
        </p:nvSpPr>
        <p:spPr>
          <a:xfrm>
            <a:off x="623889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ts val="4100"/>
              <a:buFont typeface="Bookman Old Style"/>
              <a:buNone/>
              <a:defRPr sz="4100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17"/>
          <p:cNvSpPr txBox="1">
            <a:spLocks noGrp="1"/>
          </p:cNvSpPr>
          <p:nvPr>
            <p:ph type="body" idx="1"/>
          </p:nvPr>
        </p:nvSpPr>
        <p:spPr>
          <a:xfrm>
            <a:off x="623889" y="3442098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  <a:defRPr sz="1800">
                <a:solidFill>
                  <a:srgbClr val="00206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81" name="Google Shape;81;p17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17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17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84" name="Google Shape;84;p17"/>
          <p:cNvGrpSpPr/>
          <p:nvPr/>
        </p:nvGrpSpPr>
        <p:grpSpPr>
          <a:xfrm>
            <a:off x="7381663" y="13379"/>
            <a:ext cx="1735443" cy="450476"/>
            <a:chOff x="9682912" y="8965"/>
            <a:chExt cx="2402541" cy="600635"/>
          </a:xfrm>
        </p:grpSpPr>
        <p:sp>
          <p:nvSpPr>
            <p:cNvPr id="85" name="Google Shape;85;p17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86" name="Google Shape;86;p17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5775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1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8" name="Google Shape;88;p18"/>
          <p:cNvGrpSpPr/>
          <p:nvPr/>
        </p:nvGrpSpPr>
        <p:grpSpPr>
          <a:xfrm>
            <a:off x="-26252" y="0"/>
            <a:ext cx="9143359" cy="5143500"/>
            <a:chOff x="-35003" y="-1"/>
            <a:chExt cx="12191144" cy="6858000"/>
          </a:xfrm>
        </p:grpSpPr>
        <p:sp>
          <p:nvSpPr>
            <p:cNvPr id="89" name="Google Shape;89;p18"/>
            <p:cNvSpPr/>
            <p:nvPr/>
          </p:nvSpPr>
          <p:spPr>
            <a:xfrm>
              <a:off x="-35003" y="-1"/>
              <a:ext cx="12191144" cy="6858000"/>
            </a:xfrm>
            <a:prstGeom prst="rect">
              <a:avLst/>
            </a:prstGeom>
            <a:solidFill>
              <a:schemeClr val="lt1">
                <a:alpha val="98823"/>
              </a:schemeClr>
            </a:solidFill>
            <a:ln w="76200" cap="flat" cmpd="sng">
              <a:solidFill>
                <a:srgbClr val="0058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90" name="Google Shape;90;p18"/>
            <p:cNvGrpSpPr/>
            <p:nvPr/>
          </p:nvGrpSpPr>
          <p:grpSpPr>
            <a:xfrm>
              <a:off x="0" y="-1"/>
              <a:ext cx="1174375" cy="932329"/>
              <a:chOff x="1" y="0"/>
              <a:chExt cx="995082" cy="663388"/>
            </a:xfrm>
          </p:grpSpPr>
          <p:sp>
            <p:nvSpPr>
              <p:cNvPr id="91" name="Google Shape;91;p18"/>
              <p:cNvSpPr/>
              <p:nvPr/>
            </p:nvSpPr>
            <p:spPr>
              <a:xfrm>
                <a:off x="1" y="0"/>
                <a:ext cx="995082" cy="663388"/>
              </a:xfrm>
              <a:custGeom>
                <a:avLst/>
                <a:gdLst/>
                <a:ahLst/>
                <a:cxnLst/>
                <a:rect l="l" t="t" r="r" b="b"/>
                <a:pathLst>
                  <a:path w="7436484" h="5134610" extrusionOk="0">
                    <a:moveTo>
                      <a:pt x="7435941" y="0"/>
                    </a:moveTo>
                    <a:lnTo>
                      <a:pt x="0" y="0"/>
                    </a:lnTo>
                    <a:lnTo>
                      <a:pt x="0" y="5134513"/>
                    </a:lnTo>
                    <a:lnTo>
                      <a:pt x="7435941" y="0"/>
                    </a:lnTo>
                    <a:close/>
                  </a:path>
                </a:pathLst>
              </a:custGeom>
              <a:solidFill>
                <a:srgbClr val="005893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92" name="Google Shape;92;p18"/>
              <p:cNvSpPr/>
              <p:nvPr/>
            </p:nvSpPr>
            <p:spPr>
              <a:xfrm>
                <a:off x="73957" y="36743"/>
                <a:ext cx="383242" cy="310714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stretch>
                  <a:fillRect/>
                </a:stretch>
              </a:blip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93" name="Google Shape;93;p18"/>
          <p:cNvSpPr txBox="1">
            <a:spLocks noGrp="1"/>
          </p:cNvSpPr>
          <p:nvPr>
            <p:ph type="title"/>
          </p:nvPr>
        </p:nvSpPr>
        <p:spPr>
          <a:xfrm>
            <a:off x="629842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4" name="Google Shape;94;p18"/>
          <p:cNvSpPr txBox="1"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5" name="Google Shape;95;p18"/>
          <p:cNvSpPr txBox="1">
            <a:spLocks noGrp="1"/>
          </p:cNvSpPr>
          <p:nvPr>
            <p:ph type="body" idx="2"/>
          </p:nvPr>
        </p:nvSpPr>
        <p:spPr>
          <a:xfrm>
            <a:off x="629842" y="1878807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6" name="Google Shape;96;p18"/>
          <p:cNvSpPr txBox="1">
            <a:spLocks noGrp="1"/>
          </p:cNvSpPr>
          <p:nvPr>
            <p:ph type="body" idx="3"/>
          </p:nvPr>
        </p:nvSpPr>
        <p:spPr>
          <a:xfrm>
            <a:off x="4629152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97" name="Google Shape;97;p18"/>
          <p:cNvSpPr txBox="1">
            <a:spLocks noGrp="1"/>
          </p:cNvSpPr>
          <p:nvPr>
            <p:ph type="body" idx="4"/>
          </p:nvPr>
        </p:nvSpPr>
        <p:spPr>
          <a:xfrm>
            <a:off x="4629152" y="1878807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98" name="Google Shape;98;p18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99" name="Google Shape;99;p18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0" name="Google Shape;100;p18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01" name="Google Shape;101;p18"/>
          <p:cNvGrpSpPr/>
          <p:nvPr/>
        </p:nvGrpSpPr>
        <p:grpSpPr>
          <a:xfrm>
            <a:off x="7381663" y="13379"/>
            <a:ext cx="1735443" cy="450476"/>
            <a:chOff x="9682912" y="8965"/>
            <a:chExt cx="2402541" cy="600635"/>
          </a:xfrm>
        </p:grpSpPr>
        <p:sp>
          <p:nvSpPr>
            <p:cNvPr id="102" name="Google Shape;102;p18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3" name="Google Shape;103;p18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5775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1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9"/>
          <p:cNvSpPr/>
          <p:nvPr/>
        </p:nvSpPr>
        <p:spPr>
          <a:xfrm>
            <a:off x="642" y="0"/>
            <a:ext cx="9143359" cy="5143500"/>
          </a:xfrm>
          <a:prstGeom prst="rect">
            <a:avLst/>
          </a:prstGeom>
          <a:solidFill>
            <a:schemeClr val="lt1">
              <a:alpha val="98823"/>
            </a:schemeClr>
          </a:solidFill>
          <a:ln w="76200" cap="flat" cmpd="sng">
            <a:solidFill>
              <a:srgbClr val="0058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6" name="Google Shape;106;p19"/>
          <p:cNvSpPr txBox="1">
            <a:spLocks noGrp="1"/>
          </p:cNvSpPr>
          <p:nvPr>
            <p:ph type="title"/>
          </p:nvPr>
        </p:nvSpPr>
        <p:spPr>
          <a:xfrm>
            <a:off x="62865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7" name="Google Shape;107;p19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8" name="Google Shape;108;p19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09" name="Google Shape;109;p19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10" name="Google Shape;110;p19"/>
          <p:cNvGrpSpPr/>
          <p:nvPr/>
        </p:nvGrpSpPr>
        <p:grpSpPr>
          <a:xfrm>
            <a:off x="0" y="1"/>
            <a:ext cx="880781" cy="699247"/>
            <a:chOff x="1" y="0"/>
            <a:chExt cx="995082" cy="663388"/>
          </a:xfrm>
        </p:grpSpPr>
        <p:sp>
          <p:nvSpPr>
            <p:cNvPr id="111" name="Google Shape;111;p19"/>
            <p:cNvSpPr/>
            <p:nvPr/>
          </p:nvSpPr>
          <p:spPr>
            <a:xfrm>
              <a:off x="1" y="0"/>
              <a:ext cx="995082" cy="663388"/>
            </a:xfrm>
            <a:custGeom>
              <a:avLst/>
              <a:gdLst/>
              <a:ahLst/>
              <a:cxnLst/>
              <a:rect l="l" t="t" r="r" b="b"/>
              <a:pathLst>
                <a:path w="7436484" h="5134610" extrusionOk="0">
                  <a:moveTo>
                    <a:pt x="7435941" y="0"/>
                  </a:moveTo>
                  <a:lnTo>
                    <a:pt x="0" y="0"/>
                  </a:lnTo>
                  <a:lnTo>
                    <a:pt x="0" y="5134513"/>
                  </a:lnTo>
                  <a:lnTo>
                    <a:pt x="7435941" y="0"/>
                  </a:lnTo>
                  <a:close/>
                </a:path>
              </a:pathLst>
            </a:custGeom>
            <a:solidFill>
              <a:srgbClr val="005893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2" name="Google Shape;112;p19"/>
            <p:cNvSpPr/>
            <p:nvPr/>
          </p:nvSpPr>
          <p:spPr>
            <a:xfrm>
              <a:off x="73957" y="36743"/>
              <a:ext cx="383242" cy="310714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113" name="Google Shape;113;p19"/>
          <p:cNvGrpSpPr/>
          <p:nvPr/>
        </p:nvGrpSpPr>
        <p:grpSpPr>
          <a:xfrm>
            <a:off x="7381663" y="13379"/>
            <a:ext cx="1735443" cy="450476"/>
            <a:chOff x="9682912" y="8965"/>
            <a:chExt cx="2402541" cy="600635"/>
          </a:xfrm>
        </p:grpSpPr>
        <p:sp>
          <p:nvSpPr>
            <p:cNvPr id="114" name="Google Shape;114;p19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15" name="Google Shape;115;p19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5775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1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0"/>
          <p:cNvSpPr/>
          <p:nvPr/>
        </p:nvSpPr>
        <p:spPr>
          <a:xfrm>
            <a:off x="642" y="0"/>
            <a:ext cx="9143359" cy="5143500"/>
          </a:xfrm>
          <a:prstGeom prst="rect">
            <a:avLst/>
          </a:prstGeom>
          <a:solidFill>
            <a:schemeClr val="lt1">
              <a:alpha val="98823"/>
            </a:schemeClr>
          </a:solidFill>
          <a:ln w="76200" cap="flat" cmpd="sng">
            <a:solidFill>
              <a:srgbClr val="005893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800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8" name="Google Shape;118;p20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19" name="Google Shape;119;p20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20" name="Google Shape;120;p20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21" name="Google Shape;121;p20"/>
          <p:cNvGrpSpPr/>
          <p:nvPr/>
        </p:nvGrpSpPr>
        <p:grpSpPr>
          <a:xfrm>
            <a:off x="7381663" y="13379"/>
            <a:ext cx="1735443" cy="450476"/>
            <a:chOff x="9682912" y="8965"/>
            <a:chExt cx="2402541" cy="600635"/>
          </a:xfrm>
        </p:grpSpPr>
        <p:sp>
          <p:nvSpPr>
            <p:cNvPr id="122" name="Google Shape;122;p20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3" name="Google Shape;123;p20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5775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1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  <p:grpSp>
        <p:nvGrpSpPr>
          <p:cNvPr id="124" name="Google Shape;124;p20"/>
          <p:cNvGrpSpPr/>
          <p:nvPr/>
        </p:nvGrpSpPr>
        <p:grpSpPr>
          <a:xfrm>
            <a:off x="0" y="1"/>
            <a:ext cx="880781" cy="699247"/>
            <a:chOff x="1" y="0"/>
            <a:chExt cx="995082" cy="663388"/>
          </a:xfrm>
        </p:grpSpPr>
        <p:sp>
          <p:nvSpPr>
            <p:cNvPr id="125" name="Google Shape;125;p20"/>
            <p:cNvSpPr/>
            <p:nvPr/>
          </p:nvSpPr>
          <p:spPr>
            <a:xfrm>
              <a:off x="1" y="0"/>
              <a:ext cx="995082" cy="663388"/>
            </a:xfrm>
            <a:custGeom>
              <a:avLst/>
              <a:gdLst/>
              <a:ahLst/>
              <a:cxnLst/>
              <a:rect l="l" t="t" r="r" b="b"/>
              <a:pathLst>
                <a:path w="7436484" h="5134610" extrusionOk="0">
                  <a:moveTo>
                    <a:pt x="7435941" y="0"/>
                  </a:moveTo>
                  <a:lnTo>
                    <a:pt x="0" y="0"/>
                  </a:lnTo>
                  <a:lnTo>
                    <a:pt x="0" y="5134513"/>
                  </a:lnTo>
                  <a:lnTo>
                    <a:pt x="7435941" y="0"/>
                  </a:lnTo>
                  <a:close/>
                </a:path>
              </a:pathLst>
            </a:custGeom>
            <a:solidFill>
              <a:srgbClr val="005893"/>
            </a:solid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26" name="Google Shape;126;p20"/>
            <p:cNvSpPr/>
            <p:nvPr/>
          </p:nvSpPr>
          <p:spPr>
            <a:xfrm>
              <a:off x="73957" y="36743"/>
              <a:ext cx="383242" cy="310714"/>
            </a:xfrm>
            <a:prstGeom prst="rect">
              <a:avLst/>
            </a:prstGeom>
            <a:blipFill rotWithShape="1">
              <a:blip r:embed="rId2">
                <a:alphaModFix/>
              </a:blip>
              <a:stretch>
                <a:fillRect/>
              </a:stretch>
            </a:blipFill>
            <a:ln>
              <a:noFill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127" name="Google Shape;127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63322" y="1204473"/>
            <a:ext cx="4417359" cy="27345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9" name="Google Shape;129;p21"/>
          <p:cNvGrpSpPr/>
          <p:nvPr/>
        </p:nvGrpSpPr>
        <p:grpSpPr>
          <a:xfrm>
            <a:off x="-26252" y="0"/>
            <a:ext cx="9143359" cy="5143500"/>
            <a:chOff x="-35003" y="-1"/>
            <a:chExt cx="12191144" cy="6858000"/>
          </a:xfrm>
        </p:grpSpPr>
        <p:sp>
          <p:nvSpPr>
            <p:cNvPr id="130" name="Google Shape;130;p21"/>
            <p:cNvSpPr/>
            <p:nvPr/>
          </p:nvSpPr>
          <p:spPr>
            <a:xfrm>
              <a:off x="-35003" y="-1"/>
              <a:ext cx="12191144" cy="6858000"/>
            </a:xfrm>
            <a:prstGeom prst="rect">
              <a:avLst/>
            </a:prstGeom>
            <a:solidFill>
              <a:schemeClr val="lt1">
                <a:alpha val="98823"/>
              </a:schemeClr>
            </a:solidFill>
            <a:ln w="76200" cap="flat" cmpd="sng">
              <a:solidFill>
                <a:srgbClr val="005893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8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grpSp>
          <p:nvGrpSpPr>
            <p:cNvPr id="131" name="Google Shape;131;p21"/>
            <p:cNvGrpSpPr/>
            <p:nvPr/>
          </p:nvGrpSpPr>
          <p:grpSpPr>
            <a:xfrm>
              <a:off x="0" y="-1"/>
              <a:ext cx="1174375" cy="932329"/>
              <a:chOff x="1" y="0"/>
              <a:chExt cx="995082" cy="663388"/>
            </a:xfrm>
          </p:grpSpPr>
          <p:sp>
            <p:nvSpPr>
              <p:cNvPr id="132" name="Google Shape;132;p21"/>
              <p:cNvSpPr/>
              <p:nvPr/>
            </p:nvSpPr>
            <p:spPr>
              <a:xfrm>
                <a:off x="1" y="0"/>
                <a:ext cx="995082" cy="663388"/>
              </a:xfrm>
              <a:custGeom>
                <a:avLst/>
                <a:gdLst/>
                <a:ahLst/>
                <a:cxnLst/>
                <a:rect l="l" t="t" r="r" b="b"/>
                <a:pathLst>
                  <a:path w="7436484" h="5134610" extrusionOk="0">
                    <a:moveTo>
                      <a:pt x="7435941" y="0"/>
                    </a:moveTo>
                    <a:lnTo>
                      <a:pt x="0" y="0"/>
                    </a:lnTo>
                    <a:lnTo>
                      <a:pt x="0" y="5134513"/>
                    </a:lnTo>
                    <a:lnTo>
                      <a:pt x="7435941" y="0"/>
                    </a:lnTo>
                    <a:close/>
                  </a:path>
                </a:pathLst>
              </a:custGeom>
              <a:solidFill>
                <a:srgbClr val="005893"/>
              </a:solid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  <p:sp>
            <p:nvSpPr>
              <p:cNvPr id="133" name="Google Shape;133;p21"/>
              <p:cNvSpPr/>
              <p:nvPr/>
            </p:nvSpPr>
            <p:spPr>
              <a:xfrm>
                <a:off x="73957" y="36743"/>
                <a:ext cx="383242" cy="310714"/>
              </a:xfrm>
              <a:prstGeom prst="rect">
                <a:avLst/>
              </a:prstGeom>
              <a:blipFill rotWithShape="1">
                <a:blip r:embed="rId2">
                  <a:alphaModFix/>
                </a:blip>
                <a:stretch>
                  <a:fillRect/>
                </a:stretch>
              </a:blipFill>
              <a:ln>
                <a:noFill/>
              </a:ln>
            </p:spPr>
            <p:txBody>
              <a:bodyPr spcFirstLastPara="1" wrap="square" lIns="0" tIns="0" rIns="0" bIns="0" anchor="t" anchorCtr="0">
                <a:noAutofit/>
              </a:bodyPr>
              <a:lstStyle/>
              <a:p>
                <a:pPr marL="0" marR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sz="800">
                  <a:solidFill>
                    <a:schemeClr val="dk1"/>
                  </a:solidFill>
                  <a:latin typeface="Calibri"/>
                  <a:ea typeface="Calibri"/>
                  <a:cs typeface="Calibri"/>
                  <a:sym typeface="Calibri"/>
                </a:endParaRPr>
              </a:p>
            </p:txBody>
          </p:sp>
        </p:grpSp>
      </p:grpSp>
      <p:sp>
        <p:nvSpPr>
          <p:cNvPr id="134" name="Google Shape;134;p21"/>
          <p:cNvSpPr txBox="1">
            <a:spLocks noGrp="1"/>
          </p:cNvSpPr>
          <p:nvPr>
            <p:ph type="title"/>
          </p:nvPr>
        </p:nvSpPr>
        <p:spPr>
          <a:xfrm>
            <a:off x="629842" y="342900"/>
            <a:ext cx="2949177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5" name="Google Shape;135;p21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36" name="Google Shape;136;p21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37" name="Google Shape;137;p21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8" name="Google Shape;138;p21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9" name="Google Shape;139;p21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140" name="Google Shape;140;p21"/>
          <p:cNvGrpSpPr/>
          <p:nvPr/>
        </p:nvGrpSpPr>
        <p:grpSpPr>
          <a:xfrm>
            <a:off x="7381663" y="13379"/>
            <a:ext cx="1735443" cy="450476"/>
            <a:chOff x="9682912" y="8965"/>
            <a:chExt cx="2402541" cy="600635"/>
          </a:xfrm>
        </p:grpSpPr>
        <p:sp>
          <p:nvSpPr>
            <p:cNvPr id="141" name="Google Shape;141;p21"/>
            <p:cNvSpPr/>
            <p:nvPr/>
          </p:nvSpPr>
          <p:spPr>
            <a:xfrm>
              <a:off x="9682912" y="8965"/>
              <a:ext cx="2402541" cy="600635"/>
            </a:xfrm>
            <a:prstGeom prst="roundRect">
              <a:avLst>
                <a:gd name="adj" fmla="val 16667"/>
              </a:avLst>
            </a:prstGeom>
            <a:solidFill>
              <a:schemeClr val="lt1"/>
            </a:solidFill>
            <a:ln w="19050" cap="flat" cmpd="sng">
              <a:solidFill>
                <a:srgbClr val="002060"/>
              </a:solidFill>
              <a:prstDash val="solid"/>
              <a:miter lim="800000"/>
              <a:headEnd type="none" w="sm" len="sm"/>
              <a:tailEnd type="none" w="sm" len="sm"/>
            </a:ln>
          </p:spPr>
          <p:txBody>
            <a:bodyPr spcFirstLastPara="1" wrap="square" lIns="68575" tIns="34275" rIns="68575" bIns="34275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800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42" name="Google Shape;142;p21"/>
            <p:cNvSpPr txBox="1"/>
            <p:nvPr/>
          </p:nvSpPr>
          <p:spPr>
            <a:xfrm>
              <a:off x="9803934" y="193190"/>
              <a:ext cx="2160495" cy="22322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0" tIns="5775" rIns="0" bIns="0" anchor="t" anchorCtr="0">
              <a:sp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100" b="1" i="1">
                  <a:solidFill>
                    <a:srgbClr val="422C75"/>
                  </a:solidFill>
                  <a:latin typeface="Bookman Old Style"/>
                  <a:ea typeface="Bookman Old Style"/>
                  <a:cs typeface="Bookman Old Style"/>
                  <a:sym typeface="Bookman Old Style"/>
                </a:rPr>
                <a:t>Go, change the world</a:t>
              </a:r>
              <a:endParaRPr sz="1100" b="1">
                <a:solidFill>
                  <a:schemeClr val="dk1"/>
                </a:solidFill>
                <a:latin typeface="Bookman Old Style"/>
                <a:ea typeface="Bookman Old Style"/>
                <a:cs typeface="Bookman Old Style"/>
                <a:sym typeface="Bookman Old Style"/>
              </a:endParaRPr>
            </a:p>
          </p:txBody>
        </p:sp>
      </p:grp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629842" y="342900"/>
            <a:ext cx="2949177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5" name="Google Shape;145;p22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46" name="Google Shape;146;p22"/>
          <p:cNvSpPr txBox="1">
            <a:spLocks noGrp="1"/>
          </p:cNvSpPr>
          <p:nvPr>
            <p:ph type="body" idx="1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49" name="Google Shape;149;p22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3"/>
          <p:cNvSpPr txBox="1">
            <a:spLocks noGrp="1"/>
          </p:cNvSpPr>
          <p:nvPr>
            <p:ph type="title"/>
          </p:nvPr>
        </p:nvSpPr>
        <p:spPr>
          <a:xfrm>
            <a:off x="62865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2" name="Google Shape;152;p23"/>
          <p:cNvSpPr txBox="1">
            <a:spLocks noGrp="1"/>
          </p:cNvSpPr>
          <p:nvPr>
            <p:ph type="body" idx="1"/>
          </p:nvPr>
        </p:nvSpPr>
        <p:spPr>
          <a:xfrm rot="5400000">
            <a:off x="2940250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23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4" name="Google Shape;154;p23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5" name="Google Shape;155;p23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4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8" name="Google Shape;158;p24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159" name="Google Shape;159;p24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24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1" name="Google Shape;161;p24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 txBox="1">
            <a:spLocks noGrp="1"/>
          </p:cNvSpPr>
          <p:nvPr>
            <p:ph type="title"/>
          </p:nvPr>
        </p:nvSpPr>
        <p:spPr>
          <a:xfrm>
            <a:off x="62865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Calibri"/>
              <a:buNone/>
              <a:defRPr sz="33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628651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dt" idx="10"/>
          </p:nvPr>
        </p:nvSpPr>
        <p:spPr>
          <a:xfrm>
            <a:off x="6286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4" name="Google Shape;54;p13"/>
          <p:cNvSpPr txBox="1">
            <a:spLocks noGrp="1"/>
          </p:cNvSpPr>
          <p:nvPr>
            <p:ph type="ftr" idx="11"/>
          </p:nvPr>
        </p:nvSpPr>
        <p:spPr>
          <a:xfrm>
            <a:off x="3028952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5" name="Google Shape;55;p13"/>
          <p:cNvSpPr txBox="1">
            <a:spLocks noGrp="1"/>
          </p:cNvSpPr>
          <p:nvPr>
            <p:ph type="sldNum" idx="12"/>
          </p:nvPr>
        </p:nvSpPr>
        <p:spPr>
          <a:xfrm>
            <a:off x="6457951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9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5"/>
          <p:cNvSpPr txBox="1">
            <a:spLocks noGrp="1"/>
          </p:cNvSpPr>
          <p:nvPr>
            <p:ph type="dt" idx="10"/>
          </p:nvPr>
        </p:nvSpPr>
        <p:spPr>
          <a:xfrm>
            <a:off x="85509" y="486965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167" name="Google Shape;167;p25"/>
          <p:cNvSpPr txBox="1">
            <a:spLocks noGrp="1"/>
          </p:cNvSpPr>
          <p:nvPr>
            <p:ph type="sldNum" idx="12"/>
          </p:nvPr>
        </p:nvSpPr>
        <p:spPr>
          <a:xfrm>
            <a:off x="6909891" y="4869656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</a:t>
            </a:fld>
            <a:endParaRPr/>
          </a:p>
        </p:txBody>
      </p:sp>
      <p:pic>
        <p:nvPicPr>
          <p:cNvPr id="168" name="Google Shape;168;p25" descr="A building with a roof&#10;&#10;Description automatically generated"/>
          <p:cNvPicPr preferRelativeResize="0">
            <a:picLocks noGrp="1"/>
          </p:cNvPicPr>
          <p:nvPr>
            <p:ph type="body" idx="1"/>
          </p:nvPr>
        </p:nvPicPr>
        <p:blipFill rotWithShape="1">
          <a:blip r:embed="rId3">
            <a:alphaModFix/>
          </a:blip>
          <a:srcRect/>
          <a:stretch/>
        </p:blipFill>
        <p:spPr>
          <a:xfrm>
            <a:off x="261738" y="624690"/>
            <a:ext cx="8620500" cy="3032910"/>
          </a:xfrm>
          <a:prstGeom prst="roundRect">
            <a:avLst>
              <a:gd name="adj" fmla="val 16667"/>
            </a:avLst>
          </a:prstGeom>
          <a:noFill/>
          <a:ln>
            <a:noFill/>
          </a:ln>
          <a:effectLst>
            <a:outerShdw blurRad="76200" dist="38100" dir="7800000" algn="tl" rotWithShape="0">
              <a:srgbClr val="000000">
                <a:alpha val="40000"/>
              </a:srgbClr>
            </a:outerShdw>
          </a:effectLst>
        </p:spPr>
      </p:pic>
      <p:sp>
        <p:nvSpPr>
          <p:cNvPr id="169" name="Google Shape;169;p25"/>
          <p:cNvSpPr/>
          <p:nvPr/>
        </p:nvSpPr>
        <p:spPr>
          <a:xfrm>
            <a:off x="261738" y="3023645"/>
            <a:ext cx="8620500" cy="1008300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2700" b="1" dirty="0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Library Management System implemented using emu8086</a:t>
            </a:r>
            <a:endParaRPr sz="2700" b="1" dirty="0">
              <a:solidFill>
                <a:schemeClr val="lt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2" name="Google Shape;169;p25">
            <a:extLst>
              <a:ext uri="{FF2B5EF4-FFF2-40B4-BE49-F238E27FC236}">
                <a16:creationId xmlns:a16="http://schemas.microsoft.com/office/drawing/2014/main" id="{50D92370-61C2-2E7D-EAF7-5D372FBF8D46}"/>
              </a:ext>
            </a:extLst>
          </p:cNvPr>
          <p:cNvSpPr/>
          <p:nvPr/>
        </p:nvSpPr>
        <p:spPr>
          <a:xfrm>
            <a:off x="313629" y="4078866"/>
            <a:ext cx="8568609" cy="721733"/>
          </a:xfrm>
          <a:prstGeom prst="roundRect">
            <a:avLst>
              <a:gd name="adj" fmla="val 16667"/>
            </a:avLst>
          </a:prstGeom>
          <a:solidFill>
            <a:srgbClr val="002060"/>
          </a:solidFill>
          <a:ln w="12700" cap="flat" cmpd="sng">
            <a:solidFill>
              <a:srgbClr val="42719B"/>
            </a:solidFill>
            <a:prstDash val="solid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2400" b="1" dirty="0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Applied Digital Logic Design and Computer </a:t>
            </a:r>
            <a:r>
              <a:rPr lang="en-US" sz="2400" b="1" dirty="0" err="1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Organisation</a:t>
            </a:r>
            <a:r>
              <a:rPr lang="en-US" sz="2400" b="1" dirty="0">
                <a:solidFill>
                  <a:schemeClr val="lt1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 – CS234AI</a:t>
            </a:r>
            <a:endParaRPr sz="2400" b="1" dirty="0">
              <a:solidFill>
                <a:schemeClr val="lt1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p2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r>
              <a:rPr lang="en-IN"/>
              <a:t>Slide No. </a:t>
            </a:r>
            <a:fld id="{00000000-1234-1234-1234-123412341234}" type="slidenum">
              <a:rPr lang="en-IN"/>
              <a:pPr/>
              <a:t>2</a:t>
            </a:fld>
            <a:endParaRPr/>
          </a:p>
        </p:txBody>
      </p:sp>
      <p:sp>
        <p:nvSpPr>
          <p:cNvPr id="136" name="Google Shape;136;p2"/>
          <p:cNvSpPr txBox="1"/>
          <p:nvPr/>
        </p:nvSpPr>
        <p:spPr>
          <a:xfrm>
            <a:off x="1548581" y="0"/>
            <a:ext cx="7464742" cy="57483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r>
              <a:rPr lang="en-IN" sz="24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Composition of Team</a:t>
            </a:r>
            <a:endParaRPr sz="24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137" name="Google Shape;137;p2"/>
          <p:cNvSpPr txBox="1"/>
          <p:nvPr/>
        </p:nvSpPr>
        <p:spPr>
          <a:xfrm>
            <a:off x="365574" y="2168284"/>
            <a:ext cx="3000935" cy="1257103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r>
              <a:rPr lang="en-IN" sz="15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Mentor/ Guide</a:t>
            </a:r>
            <a:endParaRPr sz="1050"/>
          </a:p>
          <a:p>
            <a:pPr algn="ctr"/>
            <a:r>
              <a:rPr lang="en-IN" sz="15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Prof. Deepika Dash</a:t>
            </a:r>
            <a:br>
              <a:rPr lang="en-IN" sz="15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</a:br>
            <a:r>
              <a:rPr lang="en-IN" sz="15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Assistant Professor</a:t>
            </a:r>
            <a:endParaRPr sz="1050"/>
          </a:p>
          <a:p>
            <a:pPr algn="ctr"/>
            <a:r>
              <a:rPr lang="en-IN" sz="15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COMPUTER SCIENCE</a:t>
            </a:r>
            <a:endParaRPr sz="1050"/>
          </a:p>
          <a:p>
            <a:pPr algn="ctr"/>
            <a:r>
              <a:rPr lang="en-IN" sz="15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DEPARTMENT</a:t>
            </a:r>
            <a:endParaRPr sz="1050"/>
          </a:p>
        </p:txBody>
      </p:sp>
      <p:sp>
        <p:nvSpPr>
          <p:cNvPr id="138" name="Google Shape;138;p2"/>
          <p:cNvSpPr txBox="1"/>
          <p:nvPr/>
        </p:nvSpPr>
        <p:spPr>
          <a:xfrm>
            <a:off x="5597058" y="1637483"/>
            <a:ext cx="2227532" cy="62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Divit Gupta</a:t>
            </a:r>
            <a:endParaRPr sz="18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  <a:p>
            <a:pPr algn="ctr"/>
            <a:r>
              <a:rPr lang="en-IN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1RV24CS080</a:t>
            </a:r>
            <a:endParaRPr sz="1800" dirty="0">
              <a:solidFill>
                <a:srgbClr val="002060"/>
              </a:solidFill>
              <a:latin typeface="Bookman Old Style" panose="02050604050505020204" pitchFamily="18" charset="0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2"/>
          <p:cNvSpPr txBox="1"/>
          <p:nvPr/>
        </p:nvSpPr>
        <p:spPr>
          <a:xfrm>
            <a:off x="3454929" y="2839105"/>
            <a:ext cx="2397024" cy="62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Garvit Goyal</a:t>
            </a:r>
            <a:endParaRPr sz="18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  <a:p>
            <a:pPr algn="ctr"/>
            <a:r>
              <a:rPr lang="en-IN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 1RV24CS089</a:t>
            </a:r>
            <a:endParaRPr sz="18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</p:txBody>
      </p:sp>
      <p:sp>
        <p:nvSpPr>
          <p:cNvPr id="140" name="Google Shape;140;p2"/>
          <p:cNvSpPr txBox="1"/>
          <p:nvPr/>
        </p:nvSpPr>
        <p:spPr>
          <a:xfrm>
            <a:off x="3593031" y="1633287"/>
            <a:ext cx="1957937" cy="62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Dev Sisodia</a:t>
            </a:r>
            <a:endParaRPr sz="18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  <a:p>
            <a:pPr algn="ctr"/>
            <a:r>
              <a:rPr lang="en-IN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1RV24CS071</a:t>
            </a:r>
            <a:endParaRPr sz="1800" dirty="0">
              <a:solidFill>
                <a:srgbClr val="002060"/>
              </a:solidFill>
              <a:latin typeface="Bookman Old Style" panose="02050604050505020204" pitchFamily="18" charset="0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2"/>
          <p:cNvSpPr/>
          <p:nvPr/>
        </p:nvSpPr>
        <p:spPr>
          <a:xfrm>
            <a:off x="3857849" y="575947"/>
            <a:ext cx="1680557" cy="168055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noAutofit/>
          </a:bodyPr>
          <a:lstStyle/>
          <a:p>
            <a:endParaRPr sz="135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2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ctr" anchorCtr="0">
            <a:noAutofit/>
          </a:bodyPr>
          <a:lstStyle/>
          <a:p>
            <a:pPr algn="ctr"/>
            <a:r>
              <a:rPr lang="en-IN"/>
              <a:t>Monday, 19 January 2026</a:t>
            </a:r>
            <a:endParaRPr/>
          </a:p>
        </p:txBody>
      </p:sp>
      <p:sp>
        <p:nvSpPr>
          <p:cNvPr id="2" name="Google Shape;139;p2">
            <a:extLst>
              <a:ext uri="{FF2B5EF4-FFF2-40B4-BE49-F238E27FC236}">
                <a16:creationId xmlns:a16="http://schemas.microsoft.com/office/drawing/2014/main" id="{680443FD-A2F0-38E5-C433-C5A699E58FFC}"/>
              </a:ext>
            </a:extLst>
          </p:cNvPr>
          <p:cNvSpPr txBox="1"/>
          <p:nvPr/>
        </p:nvSpPr>
        <p:spPr>
          <a:xfrm>
            <a:off x="5597058" y="2865770"/>
            <a:ext cx="2397024" cy="62321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69" tIns="34275" rIns="68569" bIns="34275" anchor="t" anchorCtr="0">
            <a:spAutoFit/>
          </a:bodyPr>
          <a:lstStyle/>
          <a:p>
            <a:pPr algn="ctr"/>
            <a:r>
              <a:rPr 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Himansh Sharma</a:t>
            </a:r>
            <a:endParaRPr sz="18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  <a:p>
            <a:pPr algn="ctr"/>
            <a:r>
              <a:rPr lang="en-IN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 1RV24CS101</a:t>
            </a:r>
            <a:endParaRPr sz="1800" dirty="0">
              <a:solidFill>
                <a:srgbClr val="002060"/>
              </a:solidFill>
              <a:latin typeface="Bookman Old Style" panose="02050604050505020204" pitchFamily="18" charset="0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/>
                                        <p:tgtEl>
                                          <p:spTgt spid="1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500"/>
                                        <p:tgtEl>
                                          <p:spTgt spid="13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" dur="500"/>
                                        <p:tgtEl>
                                          <p:spTgt spid="13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/>
                                        <p:tgtEl>
                                          <p:spTgt spid="13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2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3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/>
                                        <p:tgtEl>
                                          <p:spTgt spid="13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8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4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26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175" name="Google Shape;175;p26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3</a:t>
            </a:fld>
            <a:endParaRPr/>
          </a:p>
        </p:txBody>
      </p:sp>
      <p:sp>
        <p:nvSpPr>
          <p:cNvPr id="176" name="Google Shape;176;p26"/>
          <p:cNvSpPr txBox="1"/>
          <p:nvPr/>
        </p:nvSpPr>
        <p:spPr>
          <a:xfrm>
            <a:off x="1754624" y="134125"/>
            <a:ext cx="6413462" cy="4790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Calibri"/>
              <a:buNone/>
            </a:pPr>
            <a:endParaRPr sz="2400" b="1">
              <a:solidFill>
                <a:srgbClr val="C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7" name="Google Shape;177;p26"/>
          <p:cNvSpPr txBox="1"/>
          <p:nvPr/>
        </p:nvSpPr>
        <p:spPr>
          <a:xfrm>
            <a:off x="1637071" y="67311"/>
            <a:ext cx="6113897" cy="669290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2400" b="1" dirty="0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Presentation Outline</a:t>
            </a:r>
            <a:endParaRPr sz="1100" dirty="0"/>
          </a:p>
        </p:txBody>
      </p:sp>
      <p:sp>
        <p:nvSpPr>
          <p:cNvPr id="178" name="Google Shape;178;p26"/>
          <p:cNvSpPr txBox="1">
            <a:spLocks noGrp="1"/>
          </p:cNvSpPr>
          <p:nvPr>
            <p:ph type="body" idx="1"/>
          </p:nvPr>
        </p:nvSpPr>
        <p:spPr>
          <a:xfrm>
            <a:off x="203250" y="840976"/>
            <a:ext cx="8746200" cy="391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177800" lvl="0" indent="-1968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Introduction</a:t>
            </a:r>
          </a:p>
          <a:p>
            <a:pPr marL="177800" lvl="0" indent="-19685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Problem Statement</a:t>
            </a:r>
            <a:endParaRPr dirty="0"/>
          </a:p>
          <a:p>
            <a:pPr marL="177800" lvl="0" indent="-196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Objectives</a:t>
            </a:r>
            <a:endParaRPr dirty="0"/>
          </a:p>
          <a:p>
            <a:pPr marL="177800" lvl="0" indent="-196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Literature Review</a:t>
            </a:r>
            <a:endParaRPr dirty="0"/>
          </a:p>
          <a:p>
            <a:pPr marL="177800" lvl="0" indent="-196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Methodology</a:t>
            </a:r>
            <a:endParaRPr dirty="0"/>
          </a:p>
          <a:p>
            <a:pPr marL="177800" lvl="0" indent="-196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Design and Implementation</a:t>
            </a:r>
            <a:endParaRPr dirty="0"/>
          </a:p>
          <a:p>
            <a:pPr marL="177800" lvl="0" indent="-196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Results/Simulation</a:t>
            </a:r>
            <a:endParaRPr dirty="0"/>
          </a:p>
          <a:p>
            <a:pPr marL="177800" lvl="0" indent="-196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Future Scope</a:t>
            </a:r>
            <a:endParaRPr dirty="0"/>
          </a:p>
          <a:p>
            <a:pPr marL="177800" lvl="0" indent="-196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Conclusion</a:t>
            </a:r>
            <a:endParaRPr dirty="0"/>
          </a:p>
          <a:p>
            <a:pPr marL="177800" lvl="0" indent="-1968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002060"/>
              </a:buClr>
              <a:buSzPts val="2100"/>
              <a:buChar char="•"/>
            </a:pPr>
            <a:r>
              <a:rPr lang="en" dirty="0"/>
              <a:t>References</a:t>
            </a:r>
            <a:endParaRPr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7"/>
          <p:cNvSpPr txBox="1">
            <a:spLocks noGrp="1"/>
          </p:cNvSpPr>
          <p:nvPr>
            <p:ph type="body" idx="1"/>
          </p:nvPr>
        </p:nvSpPr>
        <p:spPr>
          <a:xfrm>
            <a:off x="172775" y="771300"/>
            <a:ext cx="8881800" cy="39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•"/>
            </a:pPr>
            <a: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Library management is a fundamental requirement in education institutions and data driven environments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•"/>
            </a:pPr>
            <a: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Traditional manual systems are inefficient, difficult to scale and prone to record inconsistencies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•"/>
            </a:pPr>
            <a: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Most existing implementations rely on high-level languages, offering limited visibility into processor-level memory operations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•"/>
            </a:pPr>
            <a: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This project implements a menu-driven </a:t>
            </a:r>
            <a:r>
              <a:rPr lang="en-US" sz="17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Library Management System using 8086 Assembly Language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•"/>
            </a:pPr>
            <a: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Parallel in-memory array structures are used to manage student records, book inventories and issue logs efficiently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•"/>
            </a:pPr>
            <a: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Base-indexed addressing and pointer arithmetic ensure safe memory handling in a </a:t>
            </a:r>
            <a:r>
              <a:rPr lang="en-US" sz="1700" b="1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16-bit </a:t>
            </a:r>
            <a: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real-mode environment 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Times New Roman"/>
              <a:buChar char="•"/>
            </a:pPr>
            <a:r>
              <a:rPr lang="en-US" sz="1700" dirty="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The system supports authentication, signup approval, book issuing/return, inventory tracking and deadline simulation </a:t>
            </a:r>
          </a:p>
        </p:txBody>
      </p:sp>
      <p:sp>
        <p:nvSpPr>
          <p:cNvPr id="184" name="Google Shape;184;p27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185" name="Google Shape;185;p27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4</a:t>
            </a:fld>
            <a:endParaRPr/>
          </a:p>
        </p:txBody>
      </p:sp>
      <p:sp>
        <p:nvSpPr>
          <p:cNvPr id="186" name="Google Shape;186;p27"/>
          <p:cNvSpPr txBox="1"/>
          <p:nvPr/>
        </p:nvSpPr>
        <p:spPr>
          <a:xfrm>
            <a:off x="1005996" y="3"/>
            <a:ext cx="7375800" cy="629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Introduction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8"/>
          <p:cNvSpPr txBox="1">
            <a:spLocks noGrp="1"/>
          </p:cNvSpPr>
          <p:nvPr>
            <p:ph type="body" idx="1"/>
          </p:nvPr>
        </p:nvSpPr>
        <p:spPr>
          <a:xfrm>
            <a:off x="0" y="943700"/>
            <a:ext cx="9144000" cy="36891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95250" indent="0">
              <a:buNone/>
            </a:pPr>
            <a:r>
              <a:rPr lang="en-US" sz="2000" dirty="0"/>
              <a:t>Library management is an essential institutional process, yet manual systems and basic digital solutions often lead to inefficient record handling, weak access control, and data inconsistencies. High-level implementations abstract internal memory operations, limiting understanding of low-level system behavior. Designing a secure and efficient library management system on the 8086 architecture is challenging due to fixed memory constraints, segmented addressing, and dynamic record manipulation requirements. Therefore, a structured assembly-level solution is needed to ensure secure authentication, efficient in-memory data handling, and reliable operation within real-mode architectural limitations.</a:t>
            </a:r>
          </a:p>
        </p:txBody>
      </p:sp>
      <p:sp>
        <p:nvSpPr>
          <p:cNvPr id="192" name="Google Shape;192;p28"/>
          <p:cNvSpPr txBox="1"/>
          <p:nvPr/>
        </p:nvSpPr>
        <p:spPr>
          <a:xfrm>
            <a:off x="645875" y="0"/>
            <a:ext cx="8009700" cy="92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Problem Statement</a:t>
            </a:r>
            <a:endParaRPr sz="21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29"/>
          <p:cNvSpPr txBox="1">
            <a:spLocks noGrp="1"/>
          </p:cNvSpPr>
          <p:nvPr>
            <p:ph type="body" idx="1"/>
          </p:nvPr>
        </p:nvSpPr>
        <p:spPr>
          <a:xfrm>
            <a:off x="86047" y="791049"/>
            <a:ext cx="8881800" cy="36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177800" lvl="0" indent="-1587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900"/>
              <a:buChar char="•"/>
            </a:pPr>
            <a:r>
              <a:rPr lang="en-US" sz="1590" dirty="0"/>
              <a:t>To design a menu-driven Library Management System using 8086 Assembly Language </a:t>
            </a:r>
          </a:p>
          <a:p>
            <a:pPr marL="177800" lvl="0" indent="-1587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900"/>
              <a:buChar char="•"/>
            </a:pPr>
            <a:r>
              <a:rPr lang="en-US" sz="1590" dirty="0"/>
              <a:t>To manage student records, book inventories and issuance logs efficiently </a:t>
            </a:r>
          </a:p>
          <a:p>
            <a:pPr marL="177800" lvl="0" indent="-1587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900"/>
              <a:buChar char="•"/>
            </a:pPr>
            <a:r>
              <a:rPr lang="en-US" sz="1590" dirty="0"/>
              <a:t>To implement secure authentication with role-based access control (Admin and Student)</a:t>
            </a:r>
          </a:p>
          <a:p>
            <a:pPr marL="177800" lvl="0" indent="-1587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900"/>
              <a:buChar char="•"/>
            </a:pPr>
            <a:r>
              <a:rPr lang="en-US" sz="1590" dirty="0"/>
              <a:t>To ensure safe memory handling using base-indexed addressing and pointer arithmetic </a:t>
            </a:r>
          </a:p>
          <a:p>
            <a:pPr marL="177800" lvl="0" indent="-1587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900"/>
              <a:buChar char="•"/>
            </a:pPr>
            <a:r>
              <a:rPr lang="en-US" sz="1590" dirty="0"/>
              <a:t>To implement dynamic record manipulation through structured memory shifting techniques </a:t>
            </a:r>
          </a:p>
          <a:p>
            <a:pPr marL="177800" lvl="0" indent="-1587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900"/>
              <a:buChar char="•"/>
            </a:pPr>
            <a:r>
              <a:rPr lang="en-US" sz="1590" dirty="0"/>
              <a:t>To apply modular and structured assembly programming principles </a:t>
            </a:r>
          </a:p>
          <a:p>
            <a:pPr marL="177800" lvl="0" indent="-158750" algn="l" rtl="0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SzPts val="1900"/>
              <a:buChar char="•"/>
            </a:pPr>
            <a:r>
              <a:rPr lang="en-US" sz="1590" dirty="0"/>
              <a:t>To ensure accuracy, reliability and efficient data handling within fixed 16-bit real-mode memory limits </a:t>
            </a:r>
          </a:p>
        </p:txBody>
      </p:sp>
      <p:sp>
        <p:nvSpPr>
          <p:cNvPr id="198" name="Google Shape;198;p29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199" name="Google Shape;199;p29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6</a:t>
            </a:fld>
            <a:endParaRPr/>
          </a:p>
        </p:txBody>
      </p:sp>
      <p:sp>
        <p:nvSpPr>
          <p:cNvPr id="200" name="Google Shape;200;p29"/>
          <p:cNvSpPr txBox="1"/>
          <p:nvPr/>
        </p:nvSpPr>
        <p:spPr>
          <a:xfrm>
            <a:off x="1294171" y="109253"/>
            <a:ext cx="6465529" cy="401526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Objectives</a:t>
            </a:r>
            <a:endParaRPr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0"/>
          <p:cNvSpPr txBox="1">
            <a:spLocks noGrp="1"/>
          </p:cNvSpPr>
          <p:nvPr>
            <p:ph type="body" idx="1"/>
          </p:nvPr>
        </p:nvSpPr>
        <p:spPr>
          <a:xfrm>
            <a:off x="131100" y="738800"/>
            <a:ext cx="8881800" cy="4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Development Environment</a:t>
            </a:r>
            <a:endParaRPr sz="1400" b="1" dirty="0"/>
          </a:p>
          <a:p>
            <a:pPr marL="457200" lvl="0" indent="-3429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002060"/>
              </a:buClr>
              <a:buSzPts val="1800"/>
              <a:buChar char="●"/>
            </a:pPr>
            <a:r>
              <a:rPr lang="en" sz="1400" b="1" dirty="0"/>
              <a:t>Language/Assembler: </a:t>
            </a:r>
            <a:r>
              <a:rPr lang="en" sz="1400" dirty="0"/>
              <a:t>8086 Assembly Language (ALP)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002060"/>
              </a:buClr>
              <a:buSzPts val="1800"/>
              <a:buChar char="●"/>
            </a:pPr>
            <a:r>
              <a:rPr lang="en" sz="1400" b="1" dirty="0"/>
              <a:t>Assembler/Simulator: </a:t>
            </a:r>
            <a:r>
              <a:rPr lang="en" sz="1400" dirty="0"/>
              <a:t>emu8086</a:t>
            </a:r>
            <a:endParaRPr sz="1400" b="1" dirty="0"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Char char="●"/>
            </a:pPr>
            <a:r>
              <a:rPr lang="en" sz="1400" b="1" dirty="0"/>
              <a:t>Target Architecture:</a:t>
            </a:r>
            <a:r>
              <a:rPr lang="en" sz="1400" dirty="0"/>
              <a:t> Intel 8086 Microprocessor.</a:t>
            </a:r>
            <a:endParaRPr sz="1400" dirty="0"/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Char char="●"/>
            </a:pPr>
            <a:r>
              <a:rPr lang="en" sz="1400" b="1" dirty="0"/>
              <a:t>Memory Model:</a:t>
            </a:r>
            <a:r>
              <a:rPr lang="en" sz="1400" dirty="0"/>
              <a:t> Small (64KB Code + 64KB Data Segments).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Char char="●"/>
            </a:pPr>
            <a:r>
              <a:rPr lang="en" sz="1400" b="1" dirty="0"/>
              <a:t>I/O: </a:t>
            </a:r>
            <a:r>
              <a:rPr lang="en" sz="1400" dirty="0"/>
              <a:t>DOS interrupts (INT 21h)</a:t>
            </a:r>
          </a:p>
          <a:p>
            <a:pPr marL="45720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Char char="●"/>
            </a:pPr>
            <a:r>
              <a:rPr lang="en" sz="1400" b="1" dirty="0"/>
              <a:t>Execution Mode: </a:t>
            </a:r>
            <a:r>
              <a:rPr lang="en" sz="1400" dirty="0"/>
              <a:t>16-bit Real Mode</a:t>
            </a:r>
            <a:endParaRPr sz="1400" b="1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" sz="1400" b="1" dirty="0"/>
              <a:t>Data Structure Architecture: Overview</a:t>
            </a:r>
            <a:endParaRPr sz="1400" b="1" dirty="0"/>
          </a:p>
          <a:p>
            <a:pPr marL="457200" lvl="0" indent="-34290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002060"/>
              </a:buClr>
              <a:buSzPts val="1800"/>
              <a:buChar char="●"/>
            </a:pPr>
            <a:r>
              <a:rPr lang="en" sz="1400" b="1" dirty="0"/>
              <a:t>Challenge: </a:t>
            </a:r>
            <a:r>
              <a:rPr lang="en" sz="1400" dirty="0"/>
              <a:t>Managing multiple users (Admin &amp; Student), book records, and issuance logs within fixed 16-bit segmented memory while maintaining secure state transitions </a:t>
            </a:r>
          </a:p>
          <a:p>
            <a:pPr marL="1143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None/>
            </a:pPr>
            <a:r>
              <a:rPr lang="en" sz="1400" b="1" dirty="0"/>
              <a:t>Solution:</a:t>
            </a:r>
            <a:r>
              <a:rPr lang="en" sz="1400" dirty="0"/>
              <a:t> </a:t>
            </a:r>
            <a:r>
              <a:rPr lang="en" sz="1400" b="1" dirty="0"/>
              <a:t>Parallel in-memory arrays with indexed addressing</a:t>
            </a:r>
          </a:p>
          <a:p>
            <a:pPr marL="4000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ourier New" panose="02070309020205020404" pitchFamily="49" charset="0"/>
              <a:buChar char="o"/>
            </a:pPr>
            <a:r>
              <a:rPr lang="en" sz="1400" dirty="0"/>
              <a:t>Efficient contiguous storage</a:t>
            </a:r>
          </a:p>
          <a:p>
            <a:pPr marL="4000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ourier New" panose="02070309020205020404" pitchFamily="49" charset="0"/>
              <a:buChar char="o"/>
            </a:pPr>
            <a:r>
              <a:rPr lang="en" sz="1400" dirty="0">
                <a:solidFill>
                  <a:srgbClr val="002060"/>
                </a:solidFill>
              </a:rPr>
              <a:t>Pointer-based record mapping</a:t>
            </a:r>
          </a:p>
          <a:p>
            <a:pPr marL="4000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ourier New" panose="02070309020205020404" pitchFamily="49" charset="0"/>
              <a:buChar char="o"/>
            </a:pPr>
            <a:r>
              <a:rPr lang="en" sz="1400" dirty="0"/>
              <a:t>Memory shifting to avoid fragmentation </a:t>
            </a:r>
          </a:p>
          <a:p>
            <a:pPr marL="400050" lvl="0" indent="-2857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800"/>
              <a:buFont typeface="Courier New" panose="02070309020205020404" pitchFamily="49" charset="0"/>
              <a:buChar char="o"/>
            </a:pPr>
            <a:r>
              <a:rPr lang="en" sz="1400" dirty="0">
                <a:solidFill>
                  <a:srgbClr val="002060"/>
                </a:solidFill>
              </a:rPr>
              <a:t>Role-based </a:t>
            </a:r>
            <a:r>
              <a:rPr lang="en" sz="1400" dirty="0"/>
              <a:t>access control via state logic</a:t>
            </a:r>
            <a:endParaRPr sz="1400" dirty="0">
              <a:solidFill>
                <a:srgbClr val="002060"/>
              </a:solidFill>
            </a:endParaRPr>
          </a:p>
        </p:txBody>
      </p:sp>
      <p:sp>
        <p:nvSpPr>
          <p:cNvPr id="206" name="Google Shape;206;p30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07" name="Google Shape;207;p30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7</a:t>
            </a:fld>
            <a:endParaRPr/>
          </a:p>
        </p:txBody>
      </p:sp>
      <p:sp>
        <p:nvSpPr>
          <p:cNvPr id="208" name="Google Shape;208;p30"/>
          <p:cNvSpPr txBox="1"/>
          <p:nvPr/>
        </p:nvSpPr>
        <p:spPr>
          <a:xfrm>
            <a:off x="1040171" y="109252"/>
            <a:ext cx="7375800" cy="629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Methodology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1"/>
          <p:cNvSpPr txBox="1">
            <a:spLocks noGrp="1"/>
          </p:cNvSpPr>
          <p:nvPr>
            <p:ph type="body" idx="1"/>
          </p:nvPr>
        </p:nvSpPr>
        <p:spPr>
          <a:xfrm>
            <a:off x="131100" y="738800"/>
            <a:ext cx="8881800" cy="4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400" b="1" dirty="0"/>
              <a:t>Memory Layout Design</a:t>
            </a:r>
            <a:endParaRPr sz="1400" b="1" dirty="0"/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 sz="1400" b="1" dirty="0"/>
              <a:t>1. </a:t>
            </a:r>
            <a:r>
              <a:rPr lang="en-US" sz="1400" b="1" dirty="0"/>
              <a:t>Student Records (Array)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700"/>
              <a:buChar char="●"/>
            </a:pPr>
            <a:r>
              <a:rPr lang="en-US" sz="1400" b="1" dirty="0"/>
              <a:t>Size:</a:t>
            </a:r>
            <a:r>
              <a:rPr lang="en-US" sz="1400" dirty="0"/>
              <a:t> 64 Bytes per record.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Font typeface="Bookman Old Style"/>
              <a:buChar char="●"/>
            </a:pPr>
            <a:r>
              <a:rPr lang="en-US" sz="1400" b="1" dirty="0"/>
              <a:t>Layout: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0-15: </a:t>
            </a:r>
            <a:r>
              <a:rPr lang="en-US" sz="1400" dirty="0">
                <a:solidFill>
                  <a:srgbClr val="002060"/>
                </a:solidFill>
              </a:rPr>
              <a:t>Student ID (16-byte ASCII)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16-31: </a:t>
            </a:r>
            <a:r>
              <a:rPr lang="en-US" sz="1400" dirty="0">
                <a:solidFill>
                  <a:srgbClr val="002060"/>
                </a:solidFill>
              </a:rPr>
              <a:t>Encrypted Password (16 bytes)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32-55: </a:t>
            </a:r>
            <a:r>
              <a:rPr lang="en-US" sz="1400" dirty="0">
                <a:solidFill>
                  <a:srgbClr val="002060"/>
                </a:solidFill>
              </a:rPr>
              <a:t>Name (24-byte ASCII string)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56: </a:t>
            </a:r>
            <a:r>
              <a:rPr lang="en-US" sz="1400" dirty="0">
                <a:solidFill>
                  <a:srgbClr val="002060"/>
                </a:solidFill>
              </a:rPr>
              <a:t>Role/Status Flage (Admi/Student/Pending/Locked)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57-63: </a:t>
            </a:r>
            <a:r>
              <a:rPr lang="en-US" sz="1400" dirty="0">
                <a:solidFill>
                  <a:srgbClr val="002060"/>
                </a:solidFill>
              </a:rPr>
              <a:t>Reserved/Future Expansion</a:t>
            </a:r>
            <a:endParaRPr lang="en-US" sz="1400" b="1" dirty="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r>
              <a:rPr lang="en-US" sz="1400" b="1" dirty="0"/>
              <a:t>2. Book Records (Array)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700"/>
              <a:buChar char="●"/>
            </a:pPr>
            <a:r>
              <a:rPr lang="en-US" sz="1400" b="1" dirty="0"/>
              <a:t>Size:</a:t>
            </a:r>
            <a:r>
              <a:rPr lang="en-US" sz="1400" dirty="0"/>
              <a:t> 48 Bytes per record.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Font typeface="Bookman Old Style"/>
              <a:buChar char="●"/>
            </a:pPr>
            <a:r>
              <a:rPr lang="en-US" sz="1400" b="1" dirty="0"/>
              <a:t>Layout: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0-15:</a:t>
            </a:r>
            <a:r>
              <a:rPr lang="en-US" sz="1400" dirty="0">
                <a:solidFill>
                  <a:srgbClr val="002060"/>
                </a:solidFill>
              </a:rPr>
              <a:t> Book ID (16 bytes ASCII).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16-39: </a:t>
            </a:r>
            <a:r>
              <a:rPr lang="en-US" sz="1400" dirty="0">
                <a:solidFill>
                  <a:srgbClr val="002060"/>
                </a:solidFill>
              </a:rPr>
              <a:t>Book Title (24-byte ASCII string)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40: </a:t>
            </a:r>
            <a:r>
              <a:rPr lang="en-US" sz="1400" dirty="0">
                <a:solidFill>
                  <a:srgbClr val="002060"/>
                </a:solidFill>
              </a:rPr>
              <a:t>Availability Flag (Issued/Available)</a:t>
            </a:r>
          </a:p>
          <a:p>
            <a:pPr marL="914400" lvl="1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Char char="○"/>
            </a:pPr>
            <a:r>
              <a:rPr lang="en-US" sz="1400" b="1" dirty="0">
                <a:solidFill>
                  <a:srgbClr val="002060"/>
                </a:solidFill>
              </a:rPr>
              <a:t>Bytes 41-47: </a:t>
            </a:r>
            <a:r>
              <a:rPr lang="en-US" sz="1400" dirty="0">
                <a:solidFill>
                  <a:srgbClr val="002060"/>
                </a:solidFill>
              </a:rPr>
              <a:t>Issued to index/padding</a:t>
            </a:r>
            <a:endParaRPr lang="en-US" sz="1400" b="1" dirty="0">
              <a:solidFill>
                <a:srgbClr val="002060"/>
              </a:solidFill>
            </a:endParaRPr>
          </a:p>
        </p:txBody>
      </p:sp>
      <p:sp>
        <p:nvSpPr>
          <p:cNvPr id="214" name="Google Shape;214;p31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15" name="Google Shape;215;p31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8</a:t>
            </a:fld>
            <a:endParaRPr/>
          </a:p>
        </p:txBody>
      </p:sp>
      <p:sp>
        <p:nvSpPr>
          <p:cNvPr id="216" name="Google Shape;216;p31"/>
          <p:cNvSpPr txBox="1"/>
          <p:nvPr/>
        </p:nvSpPr>
        <p:spPr>
          <a:xfrm>
            <a:off x="1040171" y="109252"/>
            <a:ext cx="7375820" cy="629551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Methodology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32"/>
          <p:cNvSpPr txBox="1">
            <a:spLocks noGrp="1"/>
          </p:cNvSpPr>
          <p:nvPr>
            <p:ph type="body" idx="1"/>
          </p:nvPr>
        </p:nvSpPr>
        <p:spPr>
          <a:xfrm>
            <a:off x="131100" y="738800"/>
            <a:ext cx="8881800" cy="41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 b="1" dirty="0"/>
              <a:t>3. Issue Records (Parallel Arrays)</a:t>
            </a:r>
            <a:endParaRPr sz="1500" b="1" dirty="0"/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500"/>
              <a:buChar char="●"/>
            </a:pPr>
            <a:r>
              <a:rPr lang="en-US" sz="1500" b="1" dirty="0"/>
              <a:t>Logical Record Size: </a:t>
            </a:r>
            <a:r>
              <a:rPr lang="en-US" sz="1500" dirty="0"/>
              <a:t>7 Bytes per Issue</a:t>
            </a:r>
            <a:endParaRPr sz="1500" b="1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Font typeface="Bookman Old Style"/>
              <a:buChar char="●"/>
            </a:pPr>
            <a:r>
              <a:rPr lang="en" sz="1500" b="1" dirty="0"/>
              <a:t>Layout:</a:t>
            </a:r>
            <a:endParaRPr sz="1500" b="1" dirty="0"/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Char char="○"/>
            </a:pPr>
            <a:r>
              <a:rPr lang="en-US" sz="1500" b="1" dirty="0" err="1">
                <a:solidFill>
                  <a:srgbClr val="002060"/>
                </a:solidFill>
              </a:rPr>
              <a:t>issue_bookno</a:t>
            </a:r>
            <a:r>
              <a:rPr lang="en-US" sz="1500" b="1" dirty="0">
                <a:solidFill>
                  <a:srgbClr val="002060"/>
                </a:solidFill>
              </a:rPr>
              <a:t>[k]: </a:t>
            </a:r>
            <a:r>
              <a:rPr lang="en-US" sz="1500" dirty="0">
                <a:solidFill>
                  <a:srgbClr val="002060"/>
                </a:solidFill>
              </a:rPr>
              <a:t>1 Byte (Book Number)</a:t>
            </a: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Char char="○"/>
            </a:pPr>
            <a:r>
              <a:rPr lang="en-US" sz="1500" b="1" dirty="0" err="1">
                <a:solidFill>
                  <a:srgbClr val="002060"/>
                </a:solidFill>
              </a:rPr>
              <a:t>issue_userid</a:t>
            </a:r>
            <a:r>
              <a:rPr lang="en-US" sz="1500" b="1" dirty="0">
                <a:solidFill>
                  <a:srgbClr val="002060"/>
                </a:solidFill>
              </a:rPr>
              <a:t>[k x 5] to </a:t>
            </a:r>
            <a:r>
              <a:rPr lang="en-US" sz="1500" b="1" dirty="0" err="1">
                <a:solidFill>
                  <a:srgbClr val="002060"/>
                </a:solidFill>
              </a:rPr>
              <a:t>issue_userid</a:t>
            </a:r>
            <a:r>
              <a:rPr lang="en-US" sz="1500" b="1" dirty="0">
                <a:solidFill>
                  <a:srgbClr val="002060"/>
                </a:solidFill>
              </a:rPr>
              <a:t>[k x 5 + 4]: </a:t>
            </a:r>
            <a:r>
              <a:rPr lang="en-US" sz="1500" dirty="0">
                <a:solidFill>
                  <a:srgbClr val="002060"/>
                </a:solidFill>
              </a:rPr>
              <a:t>5 Bytes (Student/User ID)</a:t>
            </a:r>
          </a:p>
          <a:p>
            <a:pPr marL="914400" lvl="1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Char char="○"/>
            </a:pPr>
            <a:r>
              <a:rPr lang="en-US" sz="1500" b="1" dirty="0" err="1">
                <a:solidFill>
                  <a:srgbClr val="002060"/>
                </a:solidFill>
              </a:rPr>
              <a:t>issue_days</a:t>
            </a:r>
            <a:r>
              <a:rPr lang="en-US" sz="1500" b="1" dirty="0">
                <a:solidFill>
                  <a:srgbClr val="002060"/>
                </a:solidFill>
              </a:rPr>
              <a:t>[k]: </a:t>
            </a:r>
            <a:r>
              <a:rPr lang="en-US" sz="1500" dirty="0">
                <a:solidFill>
                  <a:srgbClr val="002060"/>
                </a:solidFill>
              </a:rPr>
              <a:t>1 Byte (Issue Days Counter)</a:t>
            </a:r>
            <a:endParaRPr lang="en-US" sz="1500" b="1" dirty="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500" b="1" dirty="0"/>
              <a:t>4. Indexed Relational Mapping Approach</a:t>
            </a:r>
            <a:endParaRPr lang="en-US" sz="1500" b="1" dirty="0"/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 b="1" dirty="0"/>
              <a:t>Array-Based Structure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 dirty="0"/>
              <a:t>Every issue record stored relational indices: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500"/>
              <a:buAutoNum type="arabicPeriod"/>
            </a:pPr>
            <a:r>
              <a:rPr lang="en" sz="1500" b="1" dirty="0"/>
              <a:t>Student Reference: </a:t>
            </a:r>
            <a:r>
              <a:rPr lang="en" sz="1500" dirty="0"/>
              <a:t>Stores the User ID associated with the issue</a:t>
            </a:r>
            <a:endParaRPr sz="1500" dirty="0"/>
          </a:p>
          <a:p>
            <a:pPr marL="457200" lvl="0" indent="-32385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AutoNum type="arabicPeriod"/>
            </a:pPr>
            <a:r>
              <a:rPr lang="en-US" sz="1500" b="1" dirty="0"/>
              <a:t>Book Reference: </a:t>
            </a:r>
            <a:r>
              <a:rPr lang="en-US" sz="1500" dirty="0"/>
              <a:t>Stores the Book Number associated with the issue</a:t>
            </a:r>
            <a:endParaRPr sz="1500" b="1" dirty="0"/>
          </a:p>
        </p:txBody>
      </p:sp>
      <p:sp>
        <p:nvSpPr>
          <p:cNvPr id="222" name="Google Shape;222;p32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23" name="Google Shape;223;p32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9</a:t>
            </a:fld>
            <a:endParaRPr/>
          </a:p>
        </p:txBody>
      </p:sp>
      <p:sp>
        <p:nvSpPr>
          <p:cNvPr id="224" name="Google Shape;224;p32"/>
          <p:cNvSpPr txBox="1"/>
          <p:nvPr/>
        </p:nvSpPr>
        <p:spPr>
          <a:xfrm>
            <a:off x="1040171" y="109252"/>
            <a:ext cx="7375800" cy="629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Methodology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33"/>
          <p:cNvSpPr txBox="1">
            <a:spLocks noGrp="1"/>
          </p:cNvSpPr>
          <p:nvPr>
            <p:ph type="body" idx="1"/>
          </p:nvPr>
        </p:nvSpPr>
        <p:spPr>
          <a:xfrm>
            <a:off x="295569" y="790775"/>
            <a:ext cx="4705922" cy="38604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b="1" dirty="0"/>
              <a:t>Insertion Logic (Constant Time O(1))</a:t>
            </a:r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400" dirty="0"/>
              <a:t>New issue Records are inserted sequentially using indexed arrays:</a:t>
            </a:r>
          </a:p>
          <a:p>
            <a:pPr marL="723900" marR="381000" indent="-228600">
              <a:lnSpc>
                <a:spcPct val="115000"/>
              </a:lnSpc>
              <a:spcBef>
                <a:spcPts val="1200"/>
              </a:spcBef>
              <a:buSzPts val="1800"/>
            </a:pPr>
            <a:r>
              <a:rPr lang="en-US" sz="1400" b="1" dirty="0" err="1"/>
              <a:t>IssueIndex</a:t>
            </a:r>
            <a:r>
              <a:rPr lang="en-US" sz="1400" b="1" dirty="0"/>
              <a:t> &lt;- </a:t>
            </a:r>
            <a:r>
              <a:rPr lang="en-US" sz="1400" b="1" dirty="0" err="1"/>
              <a:t>issue_count</a:t>
            </a:r>
            <a:endParaRPr lang="en-US" sz="1400" b="1" dirty="0"/>
          </a:p>
          <a:p>
            <a:pPr marL="723900" marR="381000" indent="-228600">
              <a:lnSpc>
                <a:spcPct val="115000"/>
              </a:lnSpc>
              <a:spcBef>
                <a:spcPts val="1200"/>
              </a:spcBef>
              <a:buSzPts val="1800"/>
            </a:pPr>
            <a:r>
              <a:rPr lang="en-US" sz="1400" b="1" dirty="0"/>
              <a:t>Store Book Number</a:t>
            </a:r>
          </a:p>
          <a:p>
            <a:pPr marL="723900" marR="381000" indent="-228600">
              <a:lnSpc>
                <a:spcPct val="115000"/>
              </a:lnSpc>
              <a:spcBef>
                <a:spcPts val="1200"/>
              </a:spcBef>
              <a:buSzPts val="1800"/>
            </a:pPr>
            <a:r>
              <a:rPr lang="en-US" sz="1400" b="1" dirty="0"/>
              <a:t>Store </a:t>
            </a:r>
            <a:r>
              <a:rPr lang="en-US" sz="1400" b="1" dirty="0" err="1"/>
              <a:t>StudentID</a:t>
            </a:r>
            <a:endParaRPr lang="en-US" sz="1400" b="1" dirty="0"/>
          </a:p>
          <a:p>
            <a:pPr marL="723900" marR="381000" indent="-228600">
              <a:lnSpc>
                <a:spcPct val="115000"/>
              </a:lnSpc>
              <a:spcBef>
                <a:spcPts val="1200"/>
              </a:spcBef>
              <a:buSzPts val="1800"/>
            </a:pPr>
            <a:r>
              <a:rPr lang="en-US" sz="1400" b="1" dirty="0"/>
              <a:t>Set Deadline </a:t>
            </a:r>
          </a:p>
          <a:p>
            <a:pPr marL="723900" marR="381000" indent="-228600">
              <a:lnSpc>
                <a:spcPct val="115000"/>
              </a:lnSpc>
              <a:spcBef>
                <a:spcPts val="1200"/>
              </a:spcBef>
              <a:buSzPts val="1800"/>
            </a:pPr>
            <a:r>
              <a:rPr lang="en-US" sz="1400" b="1" dirty="0"/>
              <a:t>Increment Total Issue Count</a:t>
            </a:r>
          </a:p>
          <a:p>
            <a:pPr marL="723900" marR="381000" indent="-228600">
              <a:lnSpc>
                <a:spcPct val="115000"/>
              </a:lnSpc>
              <a:spcBef>
                <a:spcPts val="1200"/>
              </a:spcBef>
              <a:buSzPts val="1800"/>
            </a:pPr>
            <a:r>
              <a:rPr lang="en-US" sz="1400" b="1" dirty="0"/>
              <a:t>Decrease Book stock</a:t>
            </a: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endParaRPr lang="en-US" sz="1400" b="1" dirty="0"/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1200"/>
              </a:spcAft>
              <a:buNone/>
            </a:pPr>
            <a:endParaRPr lang="en-US" sz="14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33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31" name="Google Shape;231;p33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10</a:t>
            </a:fld>
            <a:endParaRPr/>
          </a:p>
        </p:txBody>
      </p:sp>
      <p:sp>
        <p:nvSpPr>
          <p:cNvPr id="232" name="Google Shape;232;p33"/>
          <p:cNvSpPr txBox="1"/>
          <p:nvPr/>
        </p:nvSpPr>
        <p:spPr>
          <a:xfrm>
            <a:off x="1040171" y="109252"/>
            <a:ext cx="7375800" cy="629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 dirty="0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Methodology</a:t>
            </a:r>
            <a:endParaRPr sz="3000" b="1" dirty="0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5699FDD-C94C-F9A5-1D40-18DF55DF273A}"/>
              </a:ext>
            </a:extLst>
          </p:cNvPr>
          <p:cNvSpPr txBox="1"/>
          <p:nvPr/>
        </p:nvSpPr>
        <p:spPr>
          <a:xfrm>
            <a:off x="5535993" y="738952"/>
            <a:ext cx="163259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Algorithm: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0C42F299-DF90-CBB7-CECD-EEE9E8D61F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7120" y="1124821"/>
            <a:ext cx="3531311" cy="23542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34"/>
          <p:cNvSpPr txBox="1"/>
          <p:nvPr/>
        </p:nvSpPr>
        <p:spPr>
          <a:xfrm>
            <a:off x="2100263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/>
          <a:p>
            <a:pPr>
              <a:spcAft>
                <a:spcPts val="600"/>
              </a:spcAft>
              <a:buClr>
                <a:schemeClr val="dk1"/>
              </a:buClr>
              <a:buSzPts val="1400"/>
            </a:pPr>
            <a:r>
              <a:rPr lang="en-US" sz="3600" b="1" dirty="0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Design and implementation</a:t>
            </a:r>
          </a:p>
          <a:p>
            <a:pPr marL="0" lvl="0" indent="0">
              <a:spcAft>
                <a:spcPts val="600"/>
              </a:spcAft>
              <a:buClr>
                <a:schemeClr val="dk1"/>
              </a:buClr>
              <a:buSzPts val="1400"/>
            </a:pPr>
            <a:endParaRPr lang="en-US" sz="3300" b="0" i="0" u="none" strike="noStrike" cap="none" dirty="0">
              <a:solidFill>
                <a:schemeClr val="dk1"/>
              </a:solidFill>
            </a:endParaRPr>
          </a:p>
        </p:txBody>
      </p:sp>
      <p:sp>
        <p:nvSpPr>
          <p:cNvPr id="238" name="Google Shape;238;p34"/>
          <p:cNvSpPr txBox="1">
            <a:spLocks noGrp="1"/>
          </p:cNvSpPr>
          <p:nvPr>
            <p:ph type="body" idx="1"/>
          </p:nvPr>
        </p:nvSpPr>
        <p:spPr>
          <a:xfrm>
            <a:off x="6222903" y="1268016"/>
            <a:ext cx="2789990" cy="3364706"/>
          </a:xfrm>
        </p:spPr>
        <p:txBody>
          <a:bodyPr spcFirstLastPara="1" lIns="68575" tIns="34275" rIns="68575" bIns="34275" anchor="t" anchorCtr="0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None/>
            </a:pPr>
            <a:r>
              <a:rPr lang="en-US" altLang="en-US" sz="1600" dirty="0">
                <a:latin typeface="Bookman Old Style" panose="02050604050505020204" pitchFamily="18" charset="0"/>
              </a:rPr>
              <a:t>A high-level architectural overview of the 8086 Assembly–based Library Management System, illustrating the structured flow from User Input and Authentication through layered processing, in-memory array-based data management, and console output handling within real-mode system constraints.</a:t>
            </a:r>
          </a:p>
        </p:txBody>
      </p:sp>
      <p:sp>
        <p:nvSpPr>
          <p:cNvPr id="239" name="Google Shape;239;p34" hidden="1"/>
          <p:cNvSpPr txBox="1">
            <a:spLocks noGrp="1"/>
          </p:cNvSpPr>
          <p:nvPr>
            <p:ph type="dt" idx="10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60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 lang="en-US"/>
          </a:p>
        </p:txBody>
      </p:sp>
      <p:sp>
        <p:nvSpPr>
          <p:cNvPr id="240" name="Google Shape;240;p34" hidden="1"/>
          <p:cNvSpPr txBox="1">
            <a:spLocks noGrp="1"/>
          </p:cNvSpPr>
          <p:nvPr>
            <p:ph type="sldNum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60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pPr marL="0" lvl="0" indent="0" algn="r" rtl="0">
                <a:spcBef>
                  <a:spcPts val="0"/>
                </a:spcBef>
                <a:spcAft>
                  <a:spcPts val="600"/>
                </a:spcAft>
                <a:buNone/>
              </a:pPr>
              <a:t>11</a:t>
            </a:fld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C4B9ACF-E219-D2EF-5B4A-1AE11F4419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107" y="884028"/>
            <a:ext cx="6091796" cy="3985628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>
            <a:spLocks noGrp="1"/>
          </p:cNvSpPr>
          <p:nvPr>
            <p:ph type="body" idx="1"/>
          </p:nvPr>
        </p:nvSpPr>
        <p:spPr>
          <a:xfrm>
            <a:off x="131110" y="943711"/>
            <a:ext cx="8881800" cy="36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70000" lnSpcReduction="20000"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972" b="1" dirty="0"/>
              <a:t>Pointer Arithmetic &amp; Addressing</a:t>
            </a:r>
            <a:endParaRPr sz="1972" b="1" dirty="0"/>
          </a:p>
          <a:p>
            <a:pPr marL="457200" lvl="0" indent="-315825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●"/>
            </a:pPr>
            <a:r>
              <a:rPr lang="en" sz="1772" b="1" dirty="0"/>
              <a:t>Mechanism:</a:t>
            </a:r>
            <a:r>
              <a:rPr lang="en" sz="1772" dirty="0"/>
              <a:t> Uses </a:t>
            </a:r>
            <a:r>
              <a:rPr lang="en" sz="1772" b="1" dirty="0"/>
              <a:t>16 bit indexed </a:t>
            </a:r>
            <a:r>
              <a:rPr lang="en" sz="1772" dirty="0"/>
              <a:t>addressing to calculate record locations inside fixed-size-in memory array.</a:t>
            </a:r>
            <a:endParaRPr sz="1772" dirty="0"/>
          </a:p>
          <a:p>
            <a:pPr marL="457200" lvl="0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●"/>
            </a:pPr>
            <a:r>
              <a:rPr lang="en" sz="1772" b="1" dirty="0"/>
              <a:t>Formula: </a:t>
            </a:r>
            <a:r>
              <a:rPr lang="en" sz="1772" dirty="0"/>
              <a:t>Address = Base + (Index x </a:t>
            </a:r>
            <a:r>
              <a:rPr lang="en" sz="1772" dirty="0" err="1"/>
              <a:t>RecordSize</a:t>
            </a:r>
            <a:r>
              <a:rPr lang="en" sz="1772" dirty="0"/>
              <a:t>)</a:t>
            </a:r>
            <a:endParaRPr sz="1772" dirty="0"/>
          </a:p>
          <a:p>
            <a:pPr marL="457200" lvl="0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Font typeface="Bookman Old Style"/>
              <a:buChar char="●"/>
            </a:pPr>
            <a:r>
              <a:rPr lang="en" sz="1772" b="1" dirty="0"/>
              <a:t>Assembly Logic:</a:t>
            </a:r>
            <a:endParaRPr sz="1772" b="1" dirty="0"/>
          </a:p>
          <a:p>
            <a:pPr marL="914400" lvl="1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Font typeface="Bookman Old Style"/>
              <a:buChar char="○"/>
            </a:pPr>
            <a:r>
              <a:rPr lang="en" sz="1772" dirty="0">
                <a:solidFill>
                  <a:srgbClr val="002060"/>
                </a:solidFill>
              </a:rPr>
              <a:t>MUL BX: Multiplies Index by record Size. Result stored in AX (offset)</a:t>
            </a:r>
            <a:endParaRPr sz="1772" dirty="0">
              <a:solidFill>
                <a:srgbClr val="002060"/>
              </a:solidFill>
            </a:endParaRPr>
          </a:p>
          <a:p>
            <a:pPr marL="914400" lvl="1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Font typeface="Bookman Old Style"/>
              <a:buChar char="○"/>
            </a:pPr>
            <a:r>
              <a:rPr lang="en" sz="1772" dirty="0">
                <a:solidFill>
                  <a:srgbClr val="002060"/>
                </a:solidFill>
              </a:rPr>
              <a:t>LEA DI/LEA SI: Loads base address of array (</a:t>
            </a:r>
            <a:r>
              <a:rPr lang="en" sz="1772" dirty="0" err="1">
                <a:solidFill>
                  <a:srgbClr val="002060"/>
                </a:solidFill>
              </a:rPr>
              <a:t>student_ids</a:t>
            </a:r>
            <a:r>
              <a:rPr lang="en" sz="1772" dirty="0">
                <a:solidFill>
                  <a:srgbClr val="002060"/>
                </a:solidFill>
              </a:rPr>
              <a:t>, </a:t>
            </a:r>
            <a:r>
              <a:rPr lang="en" sz="1772" dirty="0" err="1">
                <a:solidFill>
                  <a:srgbClr val="002060"/>
                </a:solidFill>
              </a:rPr>
              <a:t>book_names</a:t>
            </a:r>
            <a:r>
              <a:rPr lang="en" sz="1772" dirty="0">
                <a:solidFill>
                  <a:srgbClr val="002060"/>
                </a:solidFill>
              </a:rPr>
              <a:t>, </a:t>
            </a:r>
            <a:r>
              <a:rPr lang="en" sz="1772" dirty="0" err="1">
                <a:solidFill>
                  <a:srgbClr val="002060"/>
                </a:solidFill>
              </a:rPr>
              <a:t>issue_userid</a:t>
            </a:r>
            <a:r>
              <a:rPr lang="en" sz="1772" dirty="0">
                <a:solidFill>
                  <a:srgbClr val="002060"/>
                </a:solidFill>
              </a:rPr>
              <a:t>, etc.)</a:t>
            </a:r>
            <a:endParaRPr sz="1772" dirty="0">
              <a:solidFill>
                <a:srgbClr val="002060"/>
              </a:solidFill>
            </a:endParaRPr>
          </a:p>
          <a:p>
            <a:pPr marL="914400" lvl="1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Font typeface="Bookman Old Style"/>
              <a:buChar char="○"/>
            </a:pPr>
            <a:r>
              <a:rPr lang="en" sz="1772" dirty="0">
                <a:solidFill>
                  <a:srgbClr val="002060"/>
                </a:solidFill>
              </a:rPr>
              <a:t>ADD DI, AX: Adds computed offset to base address. Points to exact record in memory.</a:t>
            </a:r>
            <a:endParaRPr sz="1772" dirty="0">
              <a:solidFill>
                <a:srgbClr val="002060"/>
              </a:solidFill>
            </a:endParaRPr>
          </a:p>
          <a:p>
            <a:pPr marL="0" lvl="0" indent="0" algn="l" rtl="0">
              <a:lnSpc>
                <a:spcPct val="115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972" b="1" dirty="0"/>
              <a:t>Duplicate Detection Logic (User ID)</a:t>
            </a:r>
            <a:endParaRPr sz="1972" b="1" dirty="0"/>
          </a:p>
          <a:p>
            <a:pPr marL="457200" lvl="0" indent="-31582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●"/>
            </a:pPr>
            <a:r>
              <a:rPr lang="en" sz="1772" b="1" dirty="0"/>
              <a:t>Goal:</a:t>
            </a:r>
            <a:r>
              <a:rPr lang="en" sz="1772" dirty="0"/>
              <a:t> Prevent duplicate user registration in the system </a:t>
            </a:r>
            <a:endParaRPr sz="1772" dirty="0"/>
          </a:p>
          <a:p>
            <a:pPr marL="457200" lvl="0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Font typeface="Bookman Old Style"/>
              <a:buChar char="●"/>
            </a:pPr>
            <a:r>
              <a:rPr lang="en" sz="1772" b="1" dirty="0"/>
              <a:t>Process (Traversal-Based Search):</a:t>
            </a:r>
            <a:endParaRPr sz="1772" b="1" dirty="0"/>
          </a:p>
          <a:p>
            <a:pPr marL="914400" lvl="1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AutoNum type="arabicPeriod"/>
            </a:pPr>
            <a:r>
              <a:rPr lang="en" sz="1772" b="1" dirty="0">
                <a:solidFill>
                  <a:srgbClr val="002060"/>
                </a:solidFill>
              </a:rPr>
              <a:t>Traverse: </a:t>
            </a:r>
            <a:r>
              <a:rPr lang="en" sz="1772" dirty="0">
                <a:solidFill>
                  <a:srgbClr val="002060"/>
                </a:solidFill>
              </a:rPr>
              <a:t>Compare entered User ID with existing </a:t>
            </a:r>
            <a:r>
              <a:rPr lang="en" sz="1772" dirty="0" err="1">
                <a:solidFill>
                  <a:srgbClr val="002060"/>
                </a:solidFill>
              </a:rPr>
              <a:t>student_ids</a:t>
            </a:r>
            <a:r>
              <a:rPr lang="en" sz="1772" dirty="0">
                <a:solidFill>
                  <a:srgbClr val="002060"/>
                </a:solidFill>
              </a:rPr>
              <a:t>.</a:t>
            </a:r>
            <a:endParaRPr sz="1772" dirty="0">
              <a:solidFill>
                <a:srgbClr val="002060"/>
              </a:solidFill>
            </a:endParaRPr>
          </a:p>
          <a:p>
            <a:pPr marL="914400" lvl="1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AutoNum type="arabicPeriod"/>
            </a:pPr>
            <a:r>
              <a:rPr lang="en-US" sz="1772" b="1" dirty="0">
                <a:solidFill>
                  <a:srgbClr val="002060"/>
                </a:solidFill>
              </a:rPr>
              <a:t>Traverse Signup Request Queue:</a:t>
            </a:r>
            <a:r>
              <a:rPr lang="en-US" sz="1772" dirty="0">
                <a:solidFill>
                  <a:srgbClr val="002060"/>
                </a:solidFill>
              </a:rPr>
              <a:t> compare entered User ID with pending </a:t>
            </a:r>
            <a:r>
              <a:rPr lang="en-US" sz="1772" dirty="0" err="1">
                <a:solidFill>
                  <a:srgbClr val="002060"/>
                </a:solidFill>
              </a:rPr>
              <a:t>request_ids</a:t>
            </a:r>
            <a:r>
              <a:rPr lang="en-US" sz="1772" dirty="0">
                <a:solidFill>
                  <a:srgbClr val="002060"/>
                </a:solidFill>
              </a:rPr>
              <a:t>.</a:t>
            </a:r>
            <a:endParaRPr lang="en-US" sz="1472" dirty="0">
              <a:solidFill>
                <a:srgbClr val="002060"/>
              </a:solidFill>
            </a:endParaRPr>
          </a:p>
          <a:p>
            <a:pPr marL="914400" lvl="1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Font typeface="Bookman Old Style"/>
              <a:buAutoNum type="arabicPeriod"/>
            </a:pPr>
            <a:r>
              <a:rPr lang="en" sz="1772" b="1" dirty="0">
                <a:solidFill>
                  <a:srgbClr val="002060"/>
                </a:solidFill>
              </a:rPr>
              <a:t>Decision Logic</a:t>
            </a:r>
            <a:endParaRPr sz="1772" b="1" dirty="0">
              <a:solidFill>
                <a:srgbClr val="002060"/>
              </a:solidFill>
            </a:endParaRPr>
          </a:p>
          <a:p>
            <a:pPr marL="1371600" lvl="2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■"/>
            </a:pPr>
            <a:r>
              <a:rPr lang="en" sz="1772" b="1" dirty="0"/>
              <a:t>If Found: </a:t>
            </a:r>
            <a:r>
              <a:rPr lang="en" sz="1772" dirty="0"/>
              <a:t>Display “User ID Already Exists"</a:t>
            </a:r>
            <a:endParaRPr sz="1772" dirty="0"/>
          </a:p>
          <a:p>
            <a:pPr marL="1371600" lvl="2" indent="-315825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ct val="100000"/>
              <a:buChar char="■"/>
            </a:pPr>
            <a:r>
              <a:rPr lang="en" sz="1772" b="1" dirty="0"/>
              <a:t>If Not Found: </a:t>
            </a:r>
            <a:r>
              <a:rPr lang="en" sz="1772" dirty="0"/>
              <a:t>Allow signup request</a:t>
            </a:r>
            <a:endParaRPr dirty="0"/>
          </a:p>
        </p:txBody>
      </p:sp>
      <p:sp>
        <p:nvSpPr>
          <p:cNvPr id="248" name="Google Shape;248;p35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49" name="Google Shape;249;p35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12</a:t>
            </a:fld>
            <a:endParaRPr/>
          </a:p>
        </p:txBody>
      </p:sp>
      <p:sp>
        <p:nvSpPr>
          <p:cNvPr id="250" name="Google Shape;250;p35"/>
          <p:cNvSpPr txBox="1"/>
          <p:nvPr/>
        </p:nvSpPr>
        <p:spPr>
          <a:xfrm>
            <a:off x="1040171" y="109252"/>
            <a:ext cx="7375800" cy="629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Design and Implementation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>
            <a:spLocks noGrp="1"/>
          </p:cNvSpPr>
          <p:nvPr>
            <p:ph type="body" idx="1"/>
          </p:nvPr>
        </p:nvSpPr>
        <p:spPr>
          <a:xfrm>
            <a:off x="131110" y="943711"/>
            <a:ext cx="8881800" cy="36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 fontScale="92500"/>
          </a:bodyPr>
          <a:lstStyle/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600" b="1" dirty="0"/>
              <a:t>Safety Mechanism: Controlled Loop Execution </a:t>
            </a:r>
            <a:endParaRPr sz="1600" b="1" dirty="0"/>
          </a:p>
          <a:p>
            <a:pPr marL="419100" indent="-285750">
              <a:lnSpc>
                <a:spcPct val="100000"/>
              </a:lnSpc>
              <a:spcBef>
                <a:spcPts val="1200"/>
              </a:spcBef>
              <a:buSzPts val="1500"/>
            </a:pPr>
            <a:r>
              <a:rPr lang="en" sz="1600" b="1" dirty="0"/>
              <a:t>Risk:</a:t>
            </a:r>
            <a:r>
              <a:rPr lang="en" sz="1600" dirty="0"/>
              <a:t> </a:t>
            </a:r>
            <a:r>
              <a:rPr lang="en-US" sz="1600" dirty="0"/>
              <a:t>Unbounded array traversal may cause memory corruption or unintended behavior </a:t>
            </a:r>
            <a:endParaRPr sz="1600" dirty="0"/>
          </a:p>
          <a:p>
            <a:pPr marL="419100" indent="-285750">
              <a:lnSpc>
                <a:spcPct val="100000"/>
              </a:lnSpc>
              <a:spcBef>
                <a:spcPts val="0"/>
              </a:spcBef>
              <a:buSzPts val="1500"/>
            </a:pPr>
            <a:r>
              <a:rPr lang="en" sz="1600" b="1" dirty="0"/>
              <a:t>Solution:</a:t>
            </a:r>
            <a:endParaRPr sz="1600" dirty="0"/>
          </a:p>
          <a:p>
            <a:pPr marL="91440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Char char="○"/>
            </a:pPr>
            <a:r>
              <a:rPr lang="en-US" sz="1600" dirty="0">
                <a:solidFill>
                  <a:srgbClr val="002060"/>
                </a:solidFill>
              </a:rPr>
              <a:t>All loops bounded using:</a:t>
            </a:r>
          </a:p>
          <a:p>
            <a:pPr lvl="2">
              <a:lnSpc>
                <a:spcPct val="100000"/>
              </a:lnSpc>
              <a:spcBef>
                <a:spcPts val="0"/>
              </a:spcBef>
              <a:buChar char="○"/>
            </a:pPr>
            <a:r>
              <a:rPr lang="en-US" sz="1600" dirty="0" err="1"/>
              <a:t>issue_count</a:t>
            </a:r>
            <a:endParaRPr lang="en-US" sz="1600" dirty="0"/>
          </a:p>
          <a:p>
            <a:pPr lvl="2">
              <a:lnSpc>
                <a:spcPct val="100000"/>
              </a:lnSpc>
              <a:spcBef>
                <a:spcPts val="0"/>
              </a:spcBef>
              <a:buChar char="○"/>
            </a:pPr>
            <a:r>
              <a:rPr lang="en-US" sz="1600" dirty="0" err="1">
                <a:solidFill>
                  <a:srgbClr val="002060"/>
                </a:solidFill>
              </a:rPr>
              <a:t>student_count</a:t>
            </a:r>
            <a:endParaRPr lang="en-US" sz="1600" dirty="0">
              <a:solidFill>
                <a:srgbClr val="002060"/>
              </a:solidFill>
            </a:endParaRPr>
          </a:p>
          <a:p>
            <a:pPr lvl="2">
              <a:lnSpc>
                <a:spcPct val="100000"/>
              </a:lnSpc>
              <a:spcBef>
                <a:spcPts val="0"/>
              </a:spcBef>
              <a:buChar char="○"/>
            </a:pPr>
            <a:r>
              <a:rPr lang="en-US" sz="1600" dirty="0" err="1"/>
              <a:t>request_count</a:t>
            </a:r>
            <a:endParaRPr sz="1600" dirty="0">
              <a:solidFill>
                <a:srgbClr val="002060"/>
              </a:solidFill>
            </a:endParaRPr>
          </a:p>
          <a:p>
            <a:pPr marL="91440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Font typeface="Bookman Old Style"/>
              <a:buChar char="○"/>
            </a:pPr>
            <a:r>
              <a:rPr lang="en-US" sz="1600" dirty="0">
                <a:solidFill>
                  <a:srgbClr val="002060"/>
                </a:solidFill>
              </a:rPr>
              <a:t>Uses LOOP instruction with fixed counters</a:t>
            </a:r>
          </a:p>
          <a:p>
            <a:pPr marL="91440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Font typeface="Bookman Old Style"/>
              <a:buChar char="○"/>
            </a:pPr>
            <a:r>
              <a:rPr lang="en-US" sz="1600" dirty="0">
                <a:solidFill>
                  <a:srgbClr val="002060"/>
                </a:solidFill>
              </a:rPr>
              <a:t>No dynamic memory allocation </a:t>
            </a:r>
          </a:p>
          <a:p>
            <a:pPr marL="914400" lvl="1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Font typeface="Bookman Old Style"/>
              <a:buChar char="○"/>
            </a:pPr>
            <a:r>
              <a:rPr lang="en-US" sz="1600" dirty="0">
                <a:solidFill>
                  <a:srgbClr val="002060"/>
                </a:solidFill>
              </a:rPr>
              <a:t>No pointer-based traversal</a:t>
            </a:r>
          </a:p>
          <a:p>
            <a:pPr marL="419100" indent="-285750">
              <a:lnSpc>
                <a:spcPct val="100000"/>
              </a:lnSpc>
              <a:spcBef>
                <a:spcPts val="0"/>
              </a:spcBef>
              <a:buSzPts val="1500"/>
            </a:pPr>
            <a:r>
              <a:rPr lang="en-US" sz="1600" b="1" dirty="0"/>
              <a:t>Solution:</a:t>
            </a:r>
          </a:p>
          <a:p>
            <a:pPr marL="876300" lvl="1" indent="-285750">
              <a:lnSpc>
                <a:spcPct val="100000"/>
              </a:lnSpc>
              <a:spcBef>
                <a:spcPts val="0"/>
              </a:spcBef>
              <a:buSzPts val="1500"/>
            </a:pPr>
            <a:r>
              <a:rPr lang="en-US" sz="1600" dirty="0">
                <a:solidFill>
                  <a:srgbClr val="002060"/>
                </a:solidFill>
              </a:rPr>
              <a:t>Prevents infinite loops </a:t>
            </a:r>
          </a:p>
          <a:p>
            <a:pPr marL="876300" lvl="1" indent="-285750">
              <a:lnSpc>
                <a:spcPct val="100000"/>
              </a:lnSpc>
              <a:spcBef>
                <a:spcPts val="0"/>
              </a:spcBef>
              <a:buSzPts val="1500"/>
            </a:pPr>
            <a:r>
              <a:rPr lang="en-US" sz="1600" dirty="0">
                <a:solidFill>
                  <a:srgbClr val="002060"/>
                </a:solidFill>
              </a:rPr>
              <a:t>Prevents out-of-bounds access</a:t>
            </a:r>
          </a:p>
          <a:p>
            <a:pPr marL="876300" lvl="1" indent="-285750">
              <a:lnSpc>
                <a:spcPct val="100000"/>
              </a:lnSpc>
              <a:spcBef>
                <a:spcPts val="0"/>
              </a:spcBef>
              <a:buSzPts val="1500"/>
            </a:pPr>
            <a:r>
              <a:rPr lang="en-US" sz="1600" dirty="0">
                <a:solidFill>
                  <a:srgbClr val="002060"/>
                </a:solidFill>
              </a:rPr>
              <a:t>Ensures stable execution within 64KB memory model</a:t>
            </a:r>
          </a:p>
          <a:p>
            <a:pPr marL="419100" indent="-285750">
              <a:lnSpc>
                <a:spcPct val="100000"/>
              </a:lnSpc>
              <a:spcBef>
                <a:spcPts val="0"/>
              </a:spcBef>
              <a:buSzPts val="1500"/>
            </a:pPr>
            <a:endParaRPr lang="en-US" sz="1600" dirty="0">
              <a:solidFill>
                <a:srgbClr val="002060"/>
              </a:solidFill>
            </a:endParaRPr>
          </a:p>
          <a:p>
            <a:pPr marL="133350" indent="0">
              <a:lnSpc>
                <a:spcPct val="100000"/>
              </a:lnSpc>
              <a:spcBef>
                <a:spcPts val="0"/>
              </a:spcBef>
              <a:buSzPts val="1500"/>
              <a:buNone/>
            </a:pPr>
            <a:endParaRPr sz="1600" dirty="0">
              <a:solidFill>
                <a:srgbClr val="002060"/>
              </a:solidFill>
            </a:endParaRPr>
          </a:p>
          <a:p>
            <a:pPr marL="177800" lvl="0" indent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sz="1600" dirty="0"/>
          </a:p>
        </p:txBody>
      </p:sp>
      <p:sp>
        <p:nvSpPr>
          <p:cNvPr id="256" name="Google Shape;256;p36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57" name="Google Shape;257;p36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13</a:t>
            </a:fld>
            <a:endParaRPr/>
          </a:p>
        </p:txBody>
      </p:sp>
      <p:sp>
        <p:nvSpPr>
          <p:cNvPr id="258" name="Google Shape;258;p36"/>
          <p:cNvSpPr txBox="1"/>
          <p:nvPr/>
        </p:nvSpPr>
        <p:spPr>
          <a:xfrm>
            <a:off x="1040171" y="109252"/>
            <a:ext cx="7375800" cy="629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Design and Implementation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>
            <a:spLocks noGrp="1"/>
          </p:cNvSpPr>
          <p:nvPr>
            <p:ph type="body" idx="1"/>
          </p:nvPr>
        </p:nvSpPr>
        <p:spPr>
          <a:xfrm>
            <a:off x="79062" y="905128"/>
            <a:ext cx="8881800" cy="36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 b="1" dirty="0"/>
              <a:t>Data Storage &amp; Output Strategy</a:t>
            </a:r>
          </a:p>
          <a:p>
            <a:pPr marL="0" lvl="0" indent="0" algn="l" rtl="0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 b="1" dirty="0"/>
              <a:t>Data Representation: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700"/>
              <a:buAutoNum type="arabicPeriod"/>
            </a:pPr>
            <a:r>
              <a:rPr lang="en-US" sz="1500" b="1" dirty="0"/>
              <a:t>Student Records: </a:t>
            </a:r>
            <a:r>
              <a:rPr lang="en-US" sz="1500" dirty="0"/>
              <a:t>Fixed-size ID, password (XOR, encrypted), name, status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700"/>
              <a:buAutoNum type="arabicPeriod"/>
            </a:pPr>
            <a:r>
              <a:rPr lang="en-US" sz="1500" b="1" dirty="0"/>
              <a:t>Book Records: </a:t>
            </a:r>
            <a:r>
              <a:rPr lang="en-US" sz="1500" dirty="0"/>
              <a:t>Title, stock count, maximum limit</a:t>
            </a:r>
            <a:endParaRPr lang="en-US" sz="1500" b="1" dirty="0"/>
          </a:p>
          <a:p>
            <a:pPr marL="457200" lvl="0" indent="-3365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700"/>
              <a:buAutoNum type="arabicPeriod"/>
            </a:pPr>
            <a:r>
              <a:rPr lang="en-US" sz="1500" b="1" dirty="0"/>
              <a:t>Issue Records: </a:t>
            </a:r>
            <a:r>
              <a:rPr lang="en-US" sz="1500" dirty="0"/>
              <a:t>Book index, User ID (5bytes), Days remaining.</a:t>
            </a: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500" b="1" dirty="0"/>
              <a:t>Key Conversion Algorithms: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700"/>
              <a:buChar char="●"/>
            </a:pPr>
            <a:r>
              <a:rPr lang="en-US" sz="1500" b="1" dirty="0"/>
              <a:t>Numeric to ASCII:</a:t>
            </a:r>
          </a:p>
          <a:p>
            <a:pPr lvl="1" indent="-336550">
              <a:lnSpc>
                <a:spcPct val="100000"/>
              </a:lnSpc>
              <a:spcBef>
                <a:spcPts val="1200"/>
              </a:spcBef>
              <a:buClr>
                <a:srgbClr val="002060"/>
              </a:buClr>
              <a:buSzPts val="1700"/>
              <a:buChar char="●"/>
            </a:pPr>
            <a:r>
              <a:rPr lang="en-US" sz="1500" dirty="0">
                <a:solidFill>
                  <a:srgbClr val="002060"/>
                </a:solidFill>
              </a:rPr>
              <a:t>ADD AL, ‘0’ for digit conversion</a:t>
            </a:r>
          </a:p>
          <a:p>
            <a:pPr lvl="1" indent="-336550">
              <a:lnSpc>
                <a:spcPct val="100000"/>
              </a:lnSpc>
              <a:spcBef>
                <a:spcPts val="1200"/>
              </a:spcBef>
              <a:buClr>
                <a:srgbClr val="002060"/>
              </a:buClr>
              <a:buSzPts val="1700"/>
              <a:buChar char="●"/>
            </a:pPr>
            <a:r>
              <a:rPr lang="en-US" sz="1500" dirty="0">
                <a:solidFill>
                  <a:srgbClr val="002060"/>
                </a:solidFill>
              </a:rPr>
              <a:t>DIV 10 for two digit display</a:t>
            </a:r>
          </a:p>
          <a:p>
            <a:pPr marL="457200" lvl="0" indent="-3365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700"/>
              <a:buFont typeface="Bookman Old Style"/>
              <a:buChar char="●"/>
            </a:pPr>
            <a:r>
              <a:rPr lang="en-US" sz="1500" b="1" dirty="0"/>
              <a:t>Output Handling:</a:t>
            </a:r>
          </a:p>
          <a:p>
            <a:pPr lvl="1" indent="-336550"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SzPts val="1700"/>
              <a:buFont typeface="Bookman Old Style"/>
              <a:buChar char="●"/>
            </a:pPr>
            <a:r>
              <a:rPr lang="en-US" sz="1500" dirty="0">
                <a:solidFill>
                  <a:srgbClr val="002060"/>
                </a:solidFill>
              </a:rPr>
              <a:t>DOS INT 21H services</a:t>
            </a:r>
          </a:p>
          <a:p>
            <a:pPr lvl="1" indent="-336550">
              <a:lnSpc>
                <a:spcPct val="100000"/>
              </a:lnSpc>
              <a:spcBef>
                <a:spcPts val="0"/>
              </a:spcBef>
              <a:buClr>
                <a:srgbClr val="002060"/>
              </a:buClr>
              <a:buSzPts val="1700"/>
              <a:buFont typeface="Bookman Old Style"/>
              <a:buChar char="●"/>
            </a:pPr>
            <a:r>
              <a:rPr lang="en-US" sz="1500" dirty="0">
                <a:solidFill>
                  <a:srgbClr val="002060"/>
                </a:solidFill>
              </a:rPr>
              <a:t>Tabular console formatting with space padding</a:t>
            </a:r>
          </a:p>
        </p:txBody>
      </p:sp>
      <p:sp>
        <p:nvSpPr>
          <p:cNvPr id="265" name="Google Shape;265;p37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66" name="Google Shape;266;p37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14</a:t>
            </a:fld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1040171" y="109252"/>
            <a:ext cx="7375800" cy="629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Design and Implementation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8"/>
          <p:cNvSpPr txBox="1">
            <a:spLocks noGrp="1"/>
          </p:cNvSpPr>
          <p:nvPr>
            <p:ph type="body" idx="1"/>
          </p:nvPr>
        </p:nvSpPr>
        <p:spPr>
          <a:xfrm>
            <a:off x="131110" y="943711"/>
            <a:ext cx="8881781" cy="2419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-US" sz="1400" b="1" dirty="0">
                <a:latin typeface="Bookman Old Style" panose="02050604050505020204" pitchFamily="18" charset="0"/>
              </a:rPr>
              <a:t>Helper Procedures</a:t>
            </a:r>
          </a:p>
          <a:p>
            <a:pPr marL="400050" indent="-285750">
              <a:lnSpc>
                <a:spcPct val="100000"/>
              </a:lnSpc>
              <a:spcBef>
                <a:spcPts val="1200"/>
              </a:spcBef>
              <a:buSzPts val="1800"/>
            </a:pPr>
            <a:r>
              <a:rPr lang="en-US" sz="1400" dirty="0" err="1">
                <a:latin typeface="Bookman Old Style" panose="02050604050505020204" pitchFamily="18" charset="0"/>
              </a:rPr>
              <a:t>encrypt_password</a:t>
            </a:r>
            <a:r>
              <a:rPr lang="en-US" sz="1400" dirty="0">
                <a:latin typeface="Bookman Old Style" panose="02050604050505020204" pitchFamily="18" charset="0"/>
              </a:rPr>
              <a:t>: Applies XOR-based encryption to user passwords</a:t>
            </a:r>
          </a:p>
          <a:p>
            <a:pPr marL="400050" indent="-285750">
              <a:lnSpc>
                <a:spcPct val="100000"/>
              </a:lnSpc>
              <a:spcBef>
                <a:spcPts val="1200"/>
              </a:spcBef>
              <a:buSzPts val="1800"/>
            </a:pPr>
            <a:r>
              <a:rPr lang="en-US" sz="1400" dirty="0" err="1">
                <a:latin typeface="Bookman Old Style" panose="02050604050505020204" pitchFamily="18" charset="0"/>
              </a:rPr>
              <a:t>check_uid_exists</a:t>
            </a:r>
            <a:r>
              <a:rPr lang="en-US" sz="1400" dirty="0">
                <a:latin typeface="Bookman Old Style" panose="02050604050505020204" pitchFamily="18" charset="0"/>
              </a:rPr>
              <a:t>: Traverses student database to detect duplicate User IDs</a:t>
            </a:r>
          </a:p>
          <a:p>
            <a:pPr marL="400050" indent="-285750">
              <a:lnSpc>
                <a:spcPct val="100000"/>
              </a:lnSpc>
              <a:spcBef>
                <a:spcPts val="1200"/>
              </a:spcBef>
              <a:buSzPts val="1800"/>
            </a:pPr>
            <a:r>
              <a:rPr lang="en-US" sz="1400" dirty="0" err="1">
                <a:latin typeface="Bookman Old Style" panose="02050604050505020204" pitchFamily="18" charset="0"/>
              </a:rPr>
              <a:t>show_digit</a:t>
            </a:r>
            <a:r>
              <a:rPr lang="en-US" sz="1400" dirty="0">
                <a:latin typeface="Bookman Old Style" panose="02050604050505020204" pitchFamily="18" charset="0"/>
              </a:rPr>
              <a:t>: Convers numeric value to ASCII using DIV 10 and prints via DOS</a:t>
            </a:r>
          </a:p>
          <a:p>
            <a:pPr marL="95250" indent="0">
              <a:lnSpc>
                <a:spcPct val="100000"/>
              </a:lnSpc>
              <a:buNone/>
            </a:pPr>
            <a:r>
              <a:rPr lang="en-US" sz="1400" b="1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System Output Handling</a:t>
            </a:r>
          </a:p>
          <a:p>
            <a:pPr>
              <a:lnSpc>
                <a:spcPct val="100000"/>
              </a:lnSpc>
            </a:pPr>
            <a:r>
              <a:rPr lang="en-US" sz="1400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Uses </a:t>
            </a:r>
            <a:r>
              <a:rPr lang="en-US" sz="1400" b="1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DOS INT 21H </a:t>
            </a:r>
            <a:r>
              <a:rPr lang="en-US" sz="1400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for console display </a:t>
            </a:r>
          </a:p>
          <a:p>
            <a:pPr>
              <a:lnSpc>
                <a:spcPct val="100000"/>
              </a:lnSpc>
            </a:pPr>
            <a:r>
              <a:rPr lang="en-US" sz="1400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Prints formatted tabular data for:</a:t>
            </a:r>
          </a:p>
          <a:p>
            <a:pPr lvl="1">
              <a:lnSpc>
                <a:spcPct val="100000"/>
              </a:lnSpc>
            </a:pPr>
            <a:r>
              <a:rPr lang="en-US" sz="1400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Books </a:t>
            </a:r>
          </a:p>
          <a:p>
            <a:pPr lvl="1">
              <a:lnSpc>
                <a:spcPct val="100000"/>
              </a:lnSpc>
            </a:pPr>
            <a:r>
              <a:rPr lang="en-US" sz="1400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Students </a:t>
            </a:r>
          </a:p>
          <a:p>
            <a:pPr lvl="1">
              <a:lnSpc>
                <a:spcPct val="100000"/>
              </a:lnSpc>
            </a:pPr>
            <a:r>
              <a:rPr lang="en-US" sz="1400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Issued records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Handles fixed-length string printing with manual spacing </a:t>
            </a:r>
          </a:p>
          <a:p>
            <a:pPr lvl="2">
              <a:lnSpc>
                <a:spcPct val="100000"/>
              </a:lnSpc>
            </a:pPr>
            <a:r>
              <a:rPr lang="en-US" sz="1400" dirty="0">
                <a:latin typeface="Bookman Old Style" panose="02050604050505020204" pitchFamily="18" charset="0"/>
                <a:ea typeface="Arial"/>
                <a:cs typeface="Arial"/>
                <a:sym typeface="Arial"/>
              </a:rPr>
              <a:t>Displays numeric values using ASCII conversion</a:t>
            </a:r>
          </a:p>
          <a:p>
            <a:pPr marL="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sz="1400" b="1" dirty="0">
              <a:latin typeface="Bookman Old Style" panose="02050604050505020204" pitchFamily="18" charset="0"/>
            </a:endParaRPr>
          </a:p>
          <a:p>
            <a:pPr marL="177800" lvl="0" indent="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lang="en-US" sz="1400" dirty="0">
              <a:latin typeface="Bookman Old Style" panose="02050604050505020204" pitchFamily="18" charset="0"/>
            </a:endParaRPr>
          </a:p>
        </p:txBody>
      </p:sp>
      <p:sp>
        <p:nvSpPr>
          <p:cNvPr id="274" name="Google Shape;274;p38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75" name="Google Shape;275;p38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Slide No. </a:t>
            </a:r>
            <a:fld id="{00000000-1234-1234-1234-123412341234}" type="slidenum">
              <a:rPr lang="en"/>
              <a:t>15</a:t>
            </a:fld>
            <a:endParaRPr/>
          </a:p>
        </p:txBody>
      </p:sp>
      <p:sp>
        <p:nvSpPr>
          <p:cNvPr id="276" name="Google Shape;276;p38"/>
          <p:cNvSpPr txBox="1"/>
          <p:nvPr/>
        </p:nvSpPr>
        <p:spPr>
          <a:xfrm>
            <a:off x="1040171" y="109252"/>
            <a:ext cx="7375800" cy="629700"/>
          </a:xfrm>
          <a:prstGeom prst="rect">
            <a:avLst/>
          </a:prstGeom>
          <a:noFill/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Design and Implementation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39"/>
          <p:cNvSpPr txBox="1">
            <a:spLocks noGrp="1"/>
          </p:cNvSpPr>
          <p:nvPr>
            <p:ph type="body" idx="1"/>
          </p:nvPr>
        </p:nvSpPr>
        <p:spPr>
          <a:xfrm>
            <a:off x="131108" y="838200"/>
            <a:ext cx="8881783" cy="39222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800" b="1" dirty="0"/>
              <a:t>System Performance Metrics</a:t>
            </a:r>
            <a:endParaRPr sz="1800" b="1" dirty="0"/>
          </a:p>
          <a:p>
            <a:pPr marL="0" lvl="0" indent="0" algn="l" rtl="0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 dirty="0"/>
              <a:t>Computational Complexity</a:t>
            </a:r>
            <a:endParaRPr sz="1600" b="1" dirty="0"/>
          </a:p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600"/>
              <a:buChar char="●"/>
            </a:pPr>
            <a:r>
              <a:rPr lang="en" sz="1600" b="1" dirty="0"/>
              <a:t>Insertion:</a:t>
            </a:r>
            <a:r>
              <a:rPr lang="en" sz="1600" dirty="0"/>
              <a:t> O(1) (Direct index-based array insertion using </a:t>
            </a:r>
            <a:r>
              <a:rPr lang="en" sz="1600" dirty="0" err="1"/>
              <a:t>issue_count</a:t>
            </a:r>
            <a:r>
              <a:rPr lang="en" sz="1600" dirty="0"/>
              <a:t>)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Char char="●"/>
            </a:pPr>
            <a:r>
              <a:rPr lang="en" sz="1600" b="1" dirty="0"/>
              <a:t>Search/Duplicate Check (User ID):</a:t>
            </a:r>
            <a:r>
              <a:rPr lang="en" sz="1600" dirty="0"/>
              <a:t> O(N) (Linear traversal of student array)</a:t>
            </a:r>
            <a:endParaRPr sz="1600" dirty="0"/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Char char="●"/>
            </a:pPr>
            <a:r>
              <a:rPr lang="en" sz="1600" b="1" dirty="0"/>
              <a:t>Return/Record Deletion: </a:t>
            </a:r>
            <a:r>
              <a:rPr lang="en" sz="1600" dirty="0"/>
              <a:t>O(N) (Linear Search + element shifting in issue array)</a:t>
            </a:r>
          </a:p>
          <a:p>
            <a:pPr marL="457200" lvl="0" indent="-330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600"/>
              <a:buChar char="●"/>
            </a:pPr>
            <a:r>
              <a:rPr lang="en" sz="1600" b="1" dirty="0"/>
              <a:t>Book Display/Reports: </a:t>
            </a:r>
            <a:r>
              <a:rPr lang="en" sz="1600" dirty="0"/>
              <a:t>O(N) (Sequential array traversal)</a:t>
            </a:r>
            <a:endParaRPr sz="1600" b="1" dirty="0"/>
          </a:p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600" b="1" dirty="0"/>
              <a:t>Memory Efficiency</a:t>
            </a:r>
            <a:endParaRPr sz="1600" b="1" dirty="0"/>
          </a:p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600"/>
              <a:buChar char="●"/>
            </a:pPr>
            <a:r>
              <a:rPr lang="en-US" sz="1600" b="1" dirty="0"/>
              <a:t>Storage Model: </a:t>
            </a:r>
            <a:r>
              <a:rPr lang="en-US" sz="1600" dirty="0"/>
              <a:t>Fixed-size in memory arrays (No dynamic allocation)</a:t>
            </a:r>
          </a:p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600"/>
              <a:buChar char="●"/>
            </a:pPr>
            <a:r>
              <a:rPr lang="en-US" sz="1600" b="1" dirty="0"/>
              <a:t>Data Segment Limit: </a:t>
            </a:r>
            <a:r>
              <a:rPr lang="en-US" sz="1600" dirty="0"/>
              <a:t>Fully operates within 64KB real-mode segment</a:t>
            </a:r>
          </a:p>
          <a:p>
            <a:pPr marL="457200" lvl="0" indent="-330200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600"/>
              <a:buChar char="●"/>
            </a:pPr>
            <a:r>
              <a:rPr lang="en-US" sz="1600" b="1" dirty="0"/>
              <a:t>Compact Issue Records: </a:t>
            </a:r>
            <a:r>
              <a:rPr lang="en-US" sz="1600" dirty="0"/>
              <a:t>7 bytes per logical issue entry (parallel array model).</a:t>
            </a:r>
            <a:endParaRPr lang="en-US" sz="1600" b="1" dirty="0"/>
          </a:p>
          <a:p>
            <a:pPr marL="177800" lvl="0" indent="0" algn="l" rtl="0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83" name="Google Shape;283;p39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284" name="Google Shape;284;p39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16</a:t>
            </a:fld>
            <a:endParaRPr/>
          </a:p>
        </p:txBody>
      </p:sp>
      <p:sp>
        <p:nvSpPr>
          <p:cNvPr id="285" name="Google Shape;285;p39"/>
          <p:cNvSpPr txBox="1"/>
          <p:nvPr/>
        </p:nvSpPr>
        <p:spPr>
          <a:xfrm>
            <a:off x="1713271" y="109252"/>
            <a:ext cx="6109928" cy="62955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Results/Simulation</a:t>
            </a:r>
            <a:endParaRPr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43"/>
          <p:cNvSpPr txBox="1">
            <a:spLocks noGrp="1"/>
          </p:cNvSpPr>
          <p:nvPr>
            <p:ph type="body" idx="1"/>
          </p:nvPr>
        </p:nvSpPr>
        <p:spPr>
          <a:xfrm>
            <a:off x="131110" y="943711"/>
            <a:ext cx="8881800" cy="36891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/>
          </a:bodyPr>
          <a:lstStyle/>
          <a:p>
            <a:pPr marL="0" lvl="0" indent="0" algn="ctr" rtl="0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IN" b="1" dirty="0"/>
              <a:t>emu8086 Environment</a:t>
            </a:r>
            <a:endParaRPr b="1" dirty="0"/>
          </a:p>
        </p:txBody>
      </p:sp>
      <p:sp>
        <p:nvSpPr>
          <p:cNvPr id="320" name="Google Shape;320;p43"/>
          <p:cNvSpPr txBox="1"/>
          <p:nvPr/>
        </p:nvSpPr>
        <p:spPr>
          <a:xfrm>
            <a:off x="1393850" y="215950"/>
            <a:ext cx="6800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Results/Simulation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2C85DCD-F075-A32F-D4F7-DA2B6669A1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090" y="1505858"/>
            <a:ext cx="4780539" cy="2726589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4AD8CECE-1313-9EE5-959F-C5910E80D7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0" y="1394449"/>
            <a:ext cx="3983690" cy="289816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09E0674-DDA1-2475-520C-9ADFB808CF50}"/>
              </a:ext>
            </a:extLst>
          </p:cNvPr>
          <p:cNvSpPr txBox="1"/>
          <p:nvPr/>
        </p:nvSpPr>
        <p:spPr>
          <a:xfrm>
            <a:off x="261257" y="4259951"/>
            <a:ext cx="244928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Starting &amp; Signup for student user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FA13A74-B648-BF2B-6595-76C91C087534}"/>
              </a:ext>
            </a:extLst>
          </p:cNvPr>
          <p:cNvSpPr txBox="1"/>
          <p:nvPr/>
        </p:nvSpPr>
        <p:spPr>
          <a:xfrm>
            <a:off x="4944286" y="4296021"/>
            <a:ext cx="24492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Admin login menu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>
          <a:extLst>
            <a:ext uri="{FF2B5EF4-FFF2-40B4-BE49-F238E27FC236}">
              <a16:creationId xmlns:a16="http://schemas.microsoft.com/office/drawing/2014/main" id="{EEF39E8D-9428-895D-393F-B3FC12B3A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3">
            <a:extLst>
              <a:ext uri="{FF2B5EF4-FFF2-40B4-BE49-F238E27FC236}">
                <a16:creationId xmlns:a16="http://schemas.microsoft.com/office/drawing/2014/main" id="{43FC4A21-8273-E8CA-DFA9-79008D8D446A}"/>
              </a:ext>
            </a:extLst>
          </p:cNvPr>
          <p:cNvSpPr txBox="1"/>
          <p:nvPr/>
        </p:nvSpPr>
        <p:spPr>
          <a:xfrm>
            <a:off x="1393850" y="215950"/>
            <a:ext cx="6800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Results/Simulation</a:t>
            </a:r>
            <a:endParaRPr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AC74E1A-8E18-79E5-363C-910788D063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757" y="1146627"/>
            <a:ext cx="6796808" cy="1743529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749C5B0-0CCA-6D64-2942-7F26A2E410CF}"/>
              </a:ext>
            </a:extLst>
          </p:cNvPr>
          <p:cNvSpPr txBox="1"/>
          <p:nvPr/>
        </p:nvSpPr>
        <p:spPr>
          <a:xfrm>
            <a:off x="169206" y="2945381"/>
            <a:ext cx="321080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Approval of Request for signup of students </a:t>
            </a:r>
          </a:p>
        </p:txBody>
      </p:sp>
    </p:spTree>
    <p:extLst>
      <p:ext uri="{BB962C8B-B14F-4D97-AF65-F5344CB8AC3E}">
        <p14:creationId xmlns:p14="http://schemas.microsoft.com/office/powerpoint/2010/main" val="25537476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17">
          <a:extLst>
            <a:ext uri="{FF2B5EF4-FFF2-40B4-BE49-F238E27FC236}">
              <a16:creationId xmlns:a16="http://schemas.microsoft.com/office/drawing/2014/main" id="{F4172537-B464-4836-B91E-CA804184AD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3">
            <a:extLst>
              <a:ext uri="{FF2B5EF4-FFF2-40B4-BE49-F238E27FC236}">
                <a16:creationId xmlns:a16="http://schemas.microsoft.com/office/drawing/2014/main" id="{64686704-2210-AD9C-0E5D-220C09F8FBF3}"/>
              </a:ext>
            </a:extLst>
          </p:cNvPr>
          <p:cNvSpPr txBox="1"/>
          <p:nvPr/>
        </p:nvSpPr>
        <p:spPr>
          <a:xfrm>
            <a:off x="1393850" y="215950"/>
            <a:ext cx="6800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Results/Simulation</a:t>
            </a:r>
            <a:endParaRPr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60B9D57-2B12-F9A1-4C01-A42E58DC712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5770" y="1145721"/>
            <a:ext cx="3447143" cy="29433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69D4232-4A0A-CA47-024C-9F248C4BDA55}"/>
              </a:ext>
            </a:extLst>
          </p:cNvPr>
          <p:cNvSpPr txBox="1"/>
          <p:nvPr/>
        </p:nvSpPr>
        <p:spPr>
          <a:xfrm>
            <a:off x="275770" y="4251091"/>
            <a:ext cx="3298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Login for Student user and menu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707111-08CE-BE22-02B3-3239C910C6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35478" y="846121"/>
            <a:ext cx="4367650" cy="32536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201A9A8-809F-F035-3116-EB3F4B36CD4A}"/>
              </a:ext>
            </a:extLst>
          </p:cNvPr>
          <p:cNvSpPr txBox="1"/>
          <p:nvPr/>
        </p:nvSpPr>
        <p:spPr>
          <a:xfrm>
            <a:off x="4335478" y="4251091"/>
            <a:ext cx="329837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Issuing of a book for student</a:t>
            </a:r>
          </a:p>
        </p:txBody>
      </p:sp>
    </p:spTree>
    <p:extLst>
      <p:ext uri="{BB962C8B-B14F-4D97-AF65-F5344CB8AC3E}">
        <p14:creationId xmlns:p14="http://schemas.microsoft.com/office/powerpoint/2010/main" val="40301422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44"/>
          <p:cNvSpPr txBox="1">
            <a:spLocks noGrp="1"/>
          </p:cNvSpPr>
          <p:nvPr>
            <p:ph type="body" idx="1"/>
          </p:nvPr>
        </p:nvSpPr>
        <p:spPr>
          <a:xfrm>
            <a:off x="131110" y="943711"/>
            <a:ext cx="8881800" cy="3689100"/>
          </a:xfrm>
          <a:prstGeom prst="rect">
            <a:avLst/>
          </a:prstGeom>
        </p:spPr>
        <p:txBody>
          <a:bodyPr spcFirstLastPara="1" wrap="square" lIns="68575" tIns="34275" rIns="68575" bIns="34275" anchor="t" anchorCtr="0">
            <a:normAutofit fontScale="85000" lnSpcReduction="2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None/>
            </a:pPr>
            <a:r>
              <a:rPr lang="en" b="1" dirty="0"/>
              <a:t>Critical Technical Resolutions</a:t>
            </a:r>
            <a:endParaRPr b="1" dirty="0"/>
          </a:p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700" b="1" dirty="0"/>
              <a:t>1. Index </a:t>
            </a:r>
            <a:r>
              <a:rPr lang="en-US" sz="1700" b="1" dirty="0"/>
              <a:t>Offset Miscalculation</a:t>
            </a:r>
          </a:p>
          <a:p>
            <a:pPr marL="457200" lvl="0" indent="-3238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500"/>
              <a:buChar char="●"/>
            </a:pPr>
            <a:r>
              <a:rPr lang="en-US" sz="1500" b="1" dirty="0"/>
              <a:t>Issue: </a:t>
            </a:r>
            <a:r>
              <a:rPr lang="en-US" sz="1500" dirty="0"/>
              <a:t>Incorrect record addressing when calculation (Index x </a:t>
            </a:r>
            <a:r>
              <a:rPr lang="en-US" sz="1500" dirty="0" err="1"/>
              <a:t>RecordSize</a:t>
            </a:r>
            <a:r>
              <a:rPr lang="en-US" sz="1500" dirty="0"/>
              <a:t>) could access wrong memory locations</a:t>
            </a:r>
          </a:p>
          <a:p>
            <a:pPr marL="45720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Char char="●"/>
            </a:pPr>
            <a:r>
              <a:rPr lang="en-US" sz="1500" b="1" dirty="0"/>
              <a:t>Fix: </a:t>
            </a:r>
            <a:r>
              <a:rPr lang="en-US" sz="1500" dirty="0"/>
              <a:t>Standardized 16-bit multiplication using MUL BX and controlled offset addition before record access</a:t>
            </a:r>
          </a:p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700" b="1" dirty="0"/>
              <a:t>2. Array Boundary &amp; Loop Control Errors</a:t>
            </a:r>
            <a:endParaRPr sz="1700" b="1" dirty="0"/>
          </a:p>
          <a:p>
            <a:pPr marL="457200" lvl="0" indent="-3238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500"/>
              <a:buChar char="●"/>
            </a:pPr>
            <a:r>
              <a:rPr lang="en" sz="1500" b="1" dirty="0"/>
              <a:t>Issue:</a:t>
            </a:r>
            <a:r>
              <a:rPr lang="en" sz="1500" dirty="0"/>
              <a:t> Potential out-of-bounds traversal during search, issue, or return operation </a:t>
            </a:r>
            <a:endParaRPr sz="1500" dirty="0"/>
          </a:p>
          <a:p>
            <a:pPr marL="45720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Char char="●"/>
            </a:pPr>
            <a:r>
              <a:rPr lang="en" sz="1500" b="1" dirty="0"/>
              <a:t>Fix: </a:t>
            </a:r>
            <a:r>
              <a:rPr lang="en" sz="1500" dirty="0"/>
              <a:t>Bounded all loops using record counters (</a:t>
            </a:r>
            <a:r>
              <a:rPr lang="en" sz="1500" dirty="0" err="1"/>
              <a:t>issue_count</a:t>
            </a:r>
            <a:r>
              <a:rPr lang="en" sz="1500" dirty="0"/>
              <a:t>, </a:t>
            </a:r>
            <a:r>
              <a:rPr lang="en" sz="1500" dirty="0" err="1"/>
              <a:t>student_count</a:t>
            </a:r>
            <a:r>
              <a:rPr lang="en" sz="1500" dirty="0"/>
              <a:t>) and controlled iteration via LOOP instruction </a:t>
            </a:r>
            <a:endParaRPr sz="1500" dirty="0"/>
          </a:p>
          <a:p>
            <a:pPr marL="0" lvl="0" indent="0" algn="l" rtl="0">
              <a:lnSpc>
                <a:spcPct val="100000"/>
              </a:lnSpc>
              <a:spcBef>
                <a:spcPts val="1400"/>
              </a:spcBef>
              <a:spcAft>
                <a:spcPts val="0"/>
              </a:spcAft>
              <a:buNone/>
            </a:pPr>
            <a:r>
              <a:rPr lang="en" sz="1700" b="1" dirty="0"/>
              <a:t>3. Record Deletion Shifting Logic</a:t>
            </a:r>
            <a:endParaRPr sz="1700" b="1" dirty="0"/>
          </a:p>
          <a:p>
            <a:pPr marL="457200" lvl="0" indent="-32385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2060"/>
              </a:buClr>
              <a:buSzPts val="1500"/>
              <a:buChar char="●"/>
            </a:pPr>
            <a:r>
              <a:rPr lang="en" sz="1500" b="1" dirty="0"/>
              <a:t>Issue: </a:t>
            </a:r>
            <a:r>
              <a:rPr lang="en" sz="1500" dirty="0"/>
              <a:t>Returning a book required shifting array elements which could cause data misalignment </a:t>
            </a:r>
            <a:endParaRPr sz="1500" dirty="0"/>
          </a:p>
          <a:p>
            <a:pPr marL="457200" lvl="0" indent="-3238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2060"/>
              </a:buClr>
              <a:buSzPts val="1500"/>
              <a:buChar char="●"/>
            </a:pPr>
            <a:r>
              <a:rPr lang="en" sz="1500" b="1" dirty="0"/>
              <a:t>Fix:</a:t>
            </a:r>
            <a:r>
              <a:rPr lang="en" sz="1500" dirty="0"/>
              <a:t> Implemented controlled index-based shifting across all related arrays before safely decrementing </a:t>
            </a:r>
            <a:r>
              <a:rPr lang="en" sz="1500" dirty="0" err="1"/>
              <a:t>issue_count</a:t>
            </a:r>
            <a:endParaRPr b="1" dirty="0"/>
          </a:p>
        </p:txBody>
      </p:sp>
      <p:sp>
        <p:nvSpPr>
          <p:cNvPr id="326" name="Google Shape;326;p44"/>
          <p:cNvSpPr txBox="1"/>
          <p:nvPr/>
        </p:nvSpPr>
        <p:spPr>
          <a:xfrm>
            <a:off x="1393850" y="215950"/>
            <a:ext cx="68001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Results/Simulation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5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334" name="Google Shape;334;p45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21</a:t>
            </a:fld>
            <a:endParaRPr/>
          </a:p>
        </p:txBody>
      </p:sp>
      <p:sp>
        <p:nvSpPr>
          <p:cNvPr id="335" name="Google Shape;335;p45"/>
          <p:cNvSpPr txBox="1"/>
          <p:nvPr/>
        </p:nvSpPr>
        <p:spPr>
          <a:xfrm>
            <a:off x="1713271" y="109252"/>
            <a:ext cx="6109928" cy="62955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Future Scope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092C1265-7AE3-4CFE-5125-E1B62F89E93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31109" y="619185"/>
            <a:ext cx="9012891" cy="452431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285750" indent="-285750">
              <a:lnSpc>
                <a:spcPct val="100000"/>
              </a:lnSpc>
              <a:buClrTx/>
              <a:buSzTx/>
            </a:pPr>
            <a:r>
              <a:rPr lang="en-US" altLang="en-US" sz="1800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Binary State Persistence:</a:t>
            </a:r>
            <a:b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</a:br>
            <a: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Implement a binary save/load system (e.g., LIBDATA.DAT) to store complete student, book, and issue arrays for faster system restoration compared to manual reinitialization.</a:t>
            </a:r>
          </a:p>
          <a:p>
            <a:pPr marL="285750" indent="-285750">
              <a:lnSpc>
                <a:spcPct val="100000"/>
              </a:lnSpc>
              <a:buClrTx/>
              <a:buSzTx/>
            </a:pPr>
            <a:r>
              <a:rPr lang="en-US" altLang="en-US" sz="1800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Algorithmic Scalability:</a:t>
            </a:r>
            <a:b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</a:br>
            <a: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Introduce </a:t>
            </a:r>
            <a:r>
              <a:rPr lang="en-US" altLang="en-US" sz="1800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Binary Search (O(log N))</a:t>
            </a:r>
            <a: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 for sorted student/book IDs and optional </a:t>
            </a:r>
            <a:r>
              <a:rPr lang="en-US" altLang="en-US" sz="1800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Hash-Based Indexing</a:t>
            </a:r>
            <a: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 to reduce reliance on current linear searches.</a:t>
            </a:r>
          </a:p>
          <a:p>
            <a:pPr marL="285750" indent="-285750">
              <a:lnSpc>
                <a:spcPct val="100000"/>
              </a:lnSpc>
              <a:buClrTx/>
              <a:buSzTx/>
            </a:pPr>
            <a:r>
              <a:rPr lang="en-US" altLang="en-US" sz="1800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Optimized Record Reuse:</a:t>
            </a:r>
            <a:b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</a:br>
            <a: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Replace array shifting during deletion with a </a:t>
            </a:r>
            <a:r>
              <a:rPr lang="en-US" altLang="en-US" sz="1800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Free-Slot Tracking Mechanism</a:t>
            </a:r>
            <a: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 to reuse deleted issue entries and improve performance.</a:t>
            </a:r>
          </a:p>
          <a:p>
            <a:pPr marL="285750" indent="-285750">
              <a:lnSpc>
                <a:spcPct val="100000"/>
              </a:lnSpc>
              <a:buClrTx/>
              <a:buSzTx/>
            </a:pPr>
            <a:r>
              <a:rPr lang="en-US" altLang="en-US" sz="1800" b="1" dirty="0">
                <a:solidFill>
                  <a:srgbClr val="002060"/>
                </a:solidFill>
                <a:latin typeface="Bookman Old Style" panose="02050604050505020204" pitchFamily="18" charset="0"/>
              </a:rPr>
              <a:t>Enhanced Security Model:</a:t>
            </a:r>
            <a:b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</a:br>
            <a:r>
              <a:rPr lang="en-US" altLang="en-US" sz="1800" dirty="0">
                <a:solidFill>
                  <a:srgbClr val="002060"/>
                </a:solidFill>
                <a:latin typeface="Bookman Old Style" panose="02050604050505020204" pitchFamily="18" charset="0"/>
              </a:rPr>
              <a:t>Upgrade from basic XOR-based password encryption to stronger hashing techniques while maintaining compatibility with 8086 real-mode constraints.</a:t>
            </a:r>
          </a:p>
          <a:p>
            <a:pPr marL="285750" indent="-285750">
              <a:lnSpc>
                <a:spcPct val="100000"/>
              </a:lnSpc>
              <a:buClrTx/>
              <a:buSzTx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rgbClr val="002060"/>
              </a:solidFill>
              <a:effectLst/>
              <a:latin typeface="Bookman Old Style" panose="02050604050505020204" pitchFamily="18" charset="0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6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343" name="Google Shape;343;p46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22</a:t>
            </a:fld>
            <a:endParaRPr/>
          </a:p>
        </p:txBody>
      </p:sp>
      <p:sp>
        <p:nvSpPr>
          <p:cNvPr id="344" name="Google Shape;344;p46"/>
          <p:cNvSpPr txBox="1"/>
          <p:nvPr/>
        </p:nvSpPr>
        <p:spPr>
          <a:xfrm>
            <a:off x="1713271" y="109252"/>
            <a:ext cx="6109928" cy="629551"/>
          </a:xfrm>
          <a:prstGeom prst="rect">
            <a:avLst/>
          </a:prstGeom>
          <a:solidFill>
            <a:schemeClr val="lt1"/>
          </a:solidFill>
          <a:ln w="9525" cap="flat" cmpd="sng">
            <a:solidFill>
              <a:schemeClr val="lt1"/>
            </a:solidFill>
            <a:prstDash val="dash"/>
            <a:miter lim="800000"/>
            <a:headEnd type="none" w="sm" len="sm"/>
            <a:tailEnd type="none" w="sm" len="sm"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 b="1">
                <a:solidFill>
                  <a:srgbClr val="C00000"/>
                </a:solidFill>
                <a:latin typeface="Bookman Old Style"/>
                <a:ea typeface="Bookman Old Style"/>
                <a:cs typeface="Bookman Old Style"/>
                <a:sym typeface="Bookman Old Style"/>
              </a:rPr>
              <a:t>Conclusion</a:t>
            </a:r>
            <a:endParaRPr sz="3000" b="1">
              <a:solidFill>
                <a:srgbClr val="C00000"/>
              </a:solidFill>
              <a:latin typeface="Bookman Old Style"/>
              <a:ea typeface="Bookman Old Style"/>
              <a:cs typeface="Bookman Old Style"/>
              <a:sym typeface="Bookman Old Style"/>
            </a:endParaRP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BB83CD6A-5A38-AA00-785C-6F8EEFE7C39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131764" y="1152953"/>
            <a:ext cx="8881128" cy="32932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marL="457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marL="914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marL="1371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marL="18288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marL="22860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marL="27432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marL="32004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marL="3657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285750" indent="-285750">
              <a:lnSpc>
                <a:spcPct val="100000"/>
              </a:lnSpc>
              <a:buClrTx/>
              <a:buSzTx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  <a:t>Structured Library System in 8086 Assembly: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  <a:t>Successfully implemented a complete role-based Library Management System using pure 8086 Assembly with fixed-size in-memory arrays and DOS interrupt services.</a:t>
            </a:r>
          </a:p>
          <a:p>
            <a:pPr marL="285750" indent="-285750">
              <a:lnSpc>
                <a:spcPct val="100000"/>
              </a:lnSpc>
              <a:buClrTx/>
              <a:buSzTx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  <a:t>Efficient Index-Based Architecture: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  <a:t>Achieved predictable performance through direct index computation, constant-time issue insertion (O(1)) and controlled linear traversal for search and updates.</a:t>
            </a:r>
          </a:p>
          <a:p>
            <a:pPr marL="285750" indent="-285750">
              <a:lnSpc>
                <a:spcPct val="100000"/>
              </a:lnSpc>
              <a:buClrTx/>
              <a:buSzTx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  <a:t>Robust Memory Control: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  <a:t>Ensured stable operation within the 64KB real-mode constraint using bounded loops, manual record shifting, and disciplined register management.</a:t>
            </a:r>
          </a:p>
          <a:p>
            <a:pPr marL="285750" indent="-285750">
              <a:lnSpc>
                <a:spcPct val="100000"/>
              </a:lnSpc>
              <a:buClrTx/>
              <a:buSzTx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  <a:t>Practical Low-Level Learning:</a:t>
            </a:r>
            <a:b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</a:b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02060"/>
                </a:solidFill>
                <a:effectLst/>
                <a:latin typeface="Bookman Old Style" panose="02050604050505020204" pitchFamily="18" charset="0"/>
              </a:rPr>
              <a:t>Applied core system concepts—pointer arithmetic, segmented memory addressing, register-level optimization, and interrupt-driven I/O—demonstrating their relevance to embedded and low-level system design.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47"/>
          <p:cNvSpPr txBox="1">
            <a:spLocks noGrp="1"/>
          </p:cNvSpPr>
          <p:nvPr>
            <p:ph type="dt" idx="10"/>
          </p:nvPr>
        </p:nvSpPr>
        <p:spPr>
          <a:xfrm>
            <a:off x="131109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"/>
              <a:t>Monday, 19 January 2026</a:t>
            </a:r>
            <a:endParaRPr/>
          </a:p>
        </p:txBody>
      </p:sp>
      <p:sp>
        <p:nvSpPr>
          <p:cNvPr id="350" name="Google Shape;350;p47"/>
          <p:cNvSpPr txBox="1">
            <a:spLocks noGrp="1"/>
          </p:cNvSpPr>
          <p:nvPr>
            <p:ph type="sldNum" idx="12"/>
          </p:nvPr>
        </p:nvSpPr>
        <p:spPr>
          <a:xfrm>
            <a:off x="6955491" y="4760404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23</a:t>
            </a:fld>
            <a:endParaRPr/>
          </a:p>
        </p:txBody>
      </p:sp>
      <p:pic>
        <p:nvPicPr>
          <p:cNvPr id="351" name="Google Shape;351;p47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2363322" y="1204473"/>
            <a:ext cx="4417359" cy="273455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155</TotalTime>
  <Words>1836</Words>
  <Application>Microsoft Macintosh PowerPoint</Application>
  <PresentationFormat>On-screen Show (16:9)</PresentationFormat>
  <Paragraphs>239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9" baseType="lpstr">
      <vt:lpstr>Arial</vt:lpstr>
      <vt:lpstr>Bookman Old Style</vt:lpstr>
      <vt:lpstr>Calibri</vt:lpstr>
      <vt:lpstr>Courier New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Divit Gupta</cp:lastModifiedBy>
  <cp:revision>4</cp:revision>
  <dcterms:modified xsi:type="dcterms:W3CDTF">2026-02-11T21:57:27Z</dcterms:modified>
</cp:coreProperties>
</file>